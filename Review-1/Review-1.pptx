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6" d="100"/>
          <a:sy n="96" d="100"/>
        </p:scale>
        <p:origin x="1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21-07-2026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F18A0-E201-1900-A139-E830DD3EA1D1}"/>
              </a:ext>
            </a:extLst>
          </p:cNvPr>
          <p:cNvSpPr>
            <a:spLocks noGrp="1"/>
          </p:cNvSpPr>
          <p:nvPr>
            <p:ph type="dt" sz="half" idx="10"/>
          </p:nvPr>
        </p:nvSpPr>
        <p:spPr/>
        <p:txBody>
          <a:bodyPr/>
          <a:lstStyle/>
          <a:p>
            <a:fld id="{8F3E78AE-7F97-4550-9DD8-BF69171FDC30}" type="datetime1">
              <a:rPr lang="en-IN" smtClean="0"/>
              <a:t>21-07-2026</a:t>
            </a:fld>
            <a:endParaRPr lang="en-IN"/>
          </a:p>
        </p:txBody>
      </p:sp>
      <p:sp>
        <p:nvSpPr>
          <p:cNvPr id="5" name="Footer Placeholder 4">
            <a:extLst>
              <a:ext uri="{FF2B5EF4-FFF2-40B4-BE49-F238E27FC236}">
                <a16:creationId xmlns:a16="http://schemas.microsoft.com/office/drawing/2014/main"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80259-8D20-E29B-4DC5-312C3DB01BB3}"/>
              </a:ext>
            </a:extLst>
          </p:cNvPr>
          <p:cNvSpPr>
            <a:spLocks noGrp="1"/>
          </p:cNvSpPr>
          <p:nvPr>
            <p:ph type="dt" sz="half" idx="10"/>
          </p:nvPr>
        </p:nvSpPr>
        <p:spPr/>
        <p:txBody>
          <a:bodyPr/>
          <a:lstStyle/>
          <a:p>
            <a:fld id="{FEA886FF-1BA7-4533-94E6-869CE1E2970B}" type="datetime1">
              <a:rPr lang="en-IN" smtClean="0"/>
              <a:t>21-07-2026</a:t>
            </a:fld>
            <a:endParaRPr lang="en-IN"/>
          </a:p>
        </p:txBody>
      </p:sp>
      <p:sp>
        <p:nvSpPr>
          <p:cNvPr id="5" name="Footer Placeholder 4">
            <a:extLst>
              <a:ext uri="{FF2B5EF4-FFF2-40B4-BE49-F238E27FC236}">
                <a16:creationId xmlns:a16="http://schemas.microsoft.com/office/drawing/2014/main"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7CE67-8E8A-4D0D-42DF-DDC842B1B17A}"/>
              </a:ext>
            </a:extLst>
          </p:cNvPr>
          <p:cNvSpPr>
            <a:spLocks noGrp="1"/>
          </p:cNvSpPr>
          <p:nvPr>
            <p:ph type="dt" sz="half" idx="10"/>
          </p:nvPr>
        </p:nvSpPr>
        <p:spPr/>
        <p:txBody>
          <a:bodyPr/>
          <a:lstStyle/>
          <a:p>
            <a:fld id="{93E22BD8-A2C4-424B-809A-C64DDCC305D9}" type="datetime1">
              <a:rPr lang="en-IN" smtClean="0"/>
              <a:t>21-07-2026</a:t>
            </a:fld>
            <a:endParaRPr lang="en-IN"/>
          </a:p>
        </p:txBody>
      </p:sp>
      <p:sp>
        <p:nvSpPr>
          <p:cNvPr id="5" name="Footer Placeholder 4">
            <a:extLst>
              <a:ext uri="{FF2B5EF4-FFF2-40B4-BE49-F238E27FC236}">
                <a16:creationId xmlns:a16="http://schemas.microsoft.com/office/drawing/2014/main"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DA5E84-A1E0-A1C4-F7E6-DA9E7B124C77}"/>
              </a:ext>
            </a:extLst>
          </p:cNvPr>
          <p:cNvSpPr>
            <a:spLocks noGrp="1"/>
          </p:cNvSpPr>
          <p:nvPr>
            <p:ph type="dt" sz="half" idx="10"/>
          </p:nvPr>
        </p:nvSpPr>
        <p:spPr/>
        <p:txBody>
          <a:bodyPr/>
          <a:lstStyle/>
          <a:p>
            <a:fld id="{B620F4BC-B3A4-46AF-9AEC-8478EF1369D5}" type="datetime1">
              <a:rPr lang="en-IN" smtClean="0"/>
              <a:t>21-07-2026</a:t>
            </a:fld>
            <a:endParaRPr lang="en-IN"/>
          </a:p>
        </p:txBody>
      </p:sp>
      <p:sp>
        <p:nvSpPr>
          <p:cNvPr id="6" name="Footer Placeholder 5">
            <a:extLst>
              <a:ext uri="{FF2B5EF4-FFF2-40B4-BE49-F238E27FC236}">
                <a16:creationId xmlns:a16="http://schemas.microsoft.com/office/drawing/2014/main"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D20C02-77C2-CB2A-62F8-60B8C62629ED}"/>
              </a:ext>
            </a:extLst>
          </p:cNvPr>
          <p:cNvSpPr>
            <a:spLocks noGrp="1"/>
          </p:cNvSpPr>
          <p:nvPr>
            <p:ph type="dt" sz="half" idx="10"/>
          </p:nvPr>
        </p:nvSpPr>
        <p:spPr/>
        <p:txBody>
          <a:bodyPr/>
          <a:lstStyle/>
          <a:p>
            <a:fld id="{4C9A2993-B405-4F4D-B968-A01C27211659}" type="datetime1">
              <a:rPr lang="en-IN" smtClean="0"/>
              <a:t>21-07-2026</a:t>
            </a:fld>
            <a:endParaRPr lang="en-IN"/>
          </a:p>
        </p:txBody>
      </p:sp>
      <p:sp>
        <p:nvSpPr>
          <p:cNvPr id="8" name="Footer Placeholder 7">
            <a:extLst>
              <a:ext uri="{FF2B5EF4-FFF2-40B4-BE49-F238E27FC236}">
                <a16:creationId xmlns:a16="http://schemas.microsoft.com/office/drawing/2014/main"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F1AB3B-AFC6-3627-62E6-22313061FA80}"/>
              </a:ext>
            </a:extLst>
          </p:cNvPr>
          <p:cNvSpPr>
            <a:spLocks noGrp="1"/>
          </p:cNvSpPr>
          <p:nvPr>
            <p:ph type="dt" sz="half" idx="10"/>
          </p:nvPr>
        </p:nvSpPr>
        <p:spPr/>
        <p:txBody>
          <a:bodyPr/>
          <a:lstStyle/>
          <a:p>
            <a:fld id="{79378C8C-5FBB-4DD7-A06D-BE263480794B}" type="datetime1">
              <a:rPr lang="en-IN" smtClean="0"/>
              <a:t>21-07-2026</a:t>
            </a:fld>
            <a:endParaRPr lang="en-IN"/>
          </a:p>
        </p:txBody>
      </p:sp>
      <p:sp>
        <p:nvSpPr>
          <p:cNvPr id="4" name="Footer Placeholder 3">
            <a:extLst>
              <a:ext uri="{FF2B5EF4-FFF2-40B4-BE49-F238E27FC236}">
                <a16:creationId xmlns:a16="http://schemas.microsoft.com/office/drawing/2014/main"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F289A-3AD7-C11D-1594-90A35E592B5C}"/>
              </a:ext>
            </a:extLst>
          </p:cNvPr>
          <p:cNvSpPr>
            <a:spLocks noGrp="1"/>
          </p:cNvSpPr>
          <p:nvPr>
            <p:ph type="dt" sz="half" idx="10"/>
          </p:nvPr>
        </p:nvSpPr>
        <p:spPr/>
        <p:txBody>
          <a:bodyPr/>
          <a:lstStyle/>
          <a:p>
            <a:fld id="{31FD2985-06EC-459B-80C8-F6F4362A1C03}" type="datetime1">
              <a:rPr lang="en-IN" smtClean="0"/>
              <a:t>21-07-2026</a:t>
            </a:fld>
            <a:endParaRPr lang="en-IN"/>
          </a:p>
        </p:txBody>
      </p:sp>
      <p:sp>
        <p:nvSpPr>
          <p:cNvPr id="3" name="Footer Placeholder 2">
            <a:extLst>
              <a:ext uri="{FF2B5EF4-FFF2-40B4-BE49-F238E27FC236}">
                <a16:creationId xmlns:a16="http://schemas.microsoft.com/office/drawing/2014/main"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758D6-7AF2-29C5-E0EE-3B7BE155EC20}"/>
              </a:ext>
            </a:extLst>
          </p:cNvPr>
          <p:cNvSpPr>
            <a:spLocks noGrp="1"/>
          </p:cNvSpPr>
          <p:nvPr>
            <p:ph type="dt" sz="half" idx="10"/>
          </p:nvPr>
        </p:nvSpPr>
        <p:spPr/>
        <p:txBody>
          <a:bodyPr/>
          <a:lstStyle/>
          <a:p>
            <a:fld id="{71D7E9DA-13C6-48A4-9305-B592482DE8CE}" type="datetime1">
              <a:rPr lang="en-IN" smtClean="0"/>
              <a:t>21-07-2026</a:t>
            </a:fld>
            <a:endParaRPr lang="en-IN"/>
          </a:p>
        </p:txBody>
      </p:sp>
      <p:sp>
        <p:nvSpPr>
          <p:cNvPr id="6" name="Footer Placeholder 5">
            <a:extLst>
              <a:ext uri="{FF2B5EF4-FFF2-40B4-BE49-F238E27FC236}">
                <a16:creationId xmlns:a16="http://schemas.microsoft.com/office/drawing/2014/main"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7E1CE-C7CA-966D-8661-1E99A7DA2174}"/>
              </a:ext>
            </a:extLst>
          </p:cNvPr>
          <p:cNvSpPr>
            <a:spLocks noGrp="1"/>
          </p:cNvSpPr>
          <p:nvPr>
            <p:ph type="dt" sz="half" idx="10"/>
          </p:nvPr>
        </p:nvSpPr>
        <p:spPr/>
        <p:txBody>
          <a:bodyPr/>
          <a:lstStyle/>
          <a:p>
            <a:fld id="{F45E7C4B-C575-4DCF-9B63-045662930500}" type="datetime1">
              <a:rPr lang="en-IN" smtClean="0"/>
              <a:t>21-07-2026</a:t>
            </a:fld>
            <a:endParaRPr lang="en-IN"/>
          </a:p>
        </p:txBody>
      </p:sp>
      <p:sp>
        <p:nvSpPr>
          <p:cNvPr id="6" name="Footer Placeholder 5">
            <a:extLst>
              <a:ext uri="{FF2B5EF4-FFF2-40B4-BE49-F238E27FC236}">
                <a16:creationId xmlns:a16="http://schemas.microsoft.com/office/drawing/2014/main"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1ADFC6-7CEA-ABEE-94C2-870B1E65737A}"/>
              </a:ext>
            </a:extLst>
          </p:cNvPr>
          <p:cNvSpPr>
            <a:spLocks noGrp="1"/>
          </p:cNvSpPr>
          <p:nvPr>
            <p:ph type="dt" sz="half" idx="10"/>
          </p:nvPr>
        </p:nvSpPr>
        <p:spPr/>
        <p:txBody>
          <a:bodyPr/>
          <a:lstStyle/>
          <a:p>
            <a:fld id="{5576931C-EA1A-43DD-B3B3-66F5BA587712}" type="datetime1">
              <a:rPr lang="en-IN" smtClean="0"/>
              <a:t>21-07-2026</a:t>
            </a:fld>
            <a:endParaRPr lang="en-IN"/>
          </a:p>
        </p:txBody>
      </p:sp>
      <p:sp>
        <p:nvSpPr>
          <p:cNvPr id="5" name="Footer Placeholder 4">
            <a:extLst>
              <a:ext uri="{FF2B5EF4-FFF2-40B4-BE49-F238E27FC236}">
                <a16:creationId xmlns:a16="http://schemas.microsoft.com/office/drawing/2014/main"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D2109-32D1-4A0F-F903-5142A204EF48}"/>
              </a:ext>
            </a:extLst>
          </p:cNvPr>
          <p:cNvSpPr>
            <a:spLocks noGrp="1"/>
          </p:cNvSpPr>
          <p:nvPr>
            <p:ph type="dt" sz="half" idx="10"/>
          </p:nvPr>
        </p:nvSpPr>
        <p:spPr/>
        <p:txBody>
          <a:bodyPr/>
          <a:lstStyle/>
          <a:p>
            <a:fld id="{82C9B0E1-7C95-4C20-B9C6-BA51F388E878}" type="datetime1">
              <a:rPr lang="en-IN" smtClean="0"/>
              <a:t>21-07-2026</a:t>
            </a:fld>
            <a:endParaRPr lang="en-IN"/>
          </a:p>
        </p:txBody>
      </p:sp>
      <p:sp>
        <p:nvSpPr>
          <p:cNvPr id="5" name="Footer Placeholder 4">
            <a:extLst>
              <a:ext uri="{FF2B5EF4-FFF2-40B4-BE49-F238E27FC236}">
                <a16:creationId xmlns:a16="http://schemas.microsoft.com/office/drawing/2014/main"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21-07-2026</a:t>
            </a:fld>
            <a:endParaRPr lang="en-IN"/>
          </a:p>
        </p:txBody>
      </p:sp>
      <p:sp>
        <p:nvSpPr>
          <p:cNvPr id="5" name="Footer Placeholder 4">
            <a:extLst>
              <a:ext uri="{FF2B5EF4-FFF2-40B4-BE49-F238E27FC236}">
                <a16:creationId xmlns:a16="http://schemas.microsoft.com/office/drawing/2014/main"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27CD-EF84-CB3A-3D07-A3152356892A}"/>
              </a:ext>
            </a:extLst>
          </p:cNvPr>
          <p:cNvPicPr>
            <a:picLocks noChangeAspect="1"/>
          </p:cNvPicPr>
          <p:nvPr/>
        </p:nvPicPr>
        <p:blipFill>
          <a:blip r:embed="rId2"/>
          <a:stretch>
            <a:fillRect/>
          </a:stretch>
        </p:blipFill>
        <p:spPr>
          <a:xfrm>
            <a:off x="3837236" y="-11493"/>
            <a:ext cx="4517528" cy="1871634"/>
          </a:xfrm>
          <a:prstGeom prst="rect">
            <a:avLst/>
          </a:prstGeom>
        </p:spPr>
      </p:pic>
      <p:sp>
        <p:nvSpPr>
          <p:cNvPr id="7" name="Title 6">
            <a:extLst>
              <a:ext uri="{FF2B5EF4-FFF2-40B4-BE49-F238E27FC236}">
                <a16:creationId xmlns:a16="http://schemas.microsoft.com/office/drawing/2014/main" id="{8BAD67C4-20B4-E1F6-A7E7-C8C33181D0C9}"/>
              </a:ext>
            </a:extLst>
          </p:cNvPr>
          <p:cNvSpPr txBox="1">
            <a:spLocks noGrp="1"/>
          </p:cNvSpPr>
          <p:nvPr>
            <p:ph type="ctrTitle"/>
          </p:nvPr>
        </p:nvSpPr>
        <p:spPr>
          <a:xfrm>
            <a:off x="1633728" y="1802080"/>
            <a:ext cx="8924544" cy="1754326"/>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Programme </a:t>
            </a:r>
            <a:r>
              <a:rPr lang="en-IN" sz="2000" b="1" dirty="0" err="1">
                <a:latin typeface="Times New Roman" panose="02020603050405020304" pitchFamily="18" charset="0"/>
                <a:cs typeface="Times New Roman" panose="02020603050405020304" pitchFamily="18" charset="0"/>
              </a:rPr>
              <a:t>B.Tech</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Course Code – BCSE497J</a:t>
            </a: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LAPS: Linguistic Adaptive Preservation Scoring for Explainable Token-Level Decision Making in Code-Mixed Text Rewriting</a:t>
            </a:r>
            <a:endParaRPr lang="en-IN" sz="2400" b="1" dirty="0">
              <a:latin typeface="Times New Roman" panose="02020603050405020304" pitchFamily="18" charset="0"/>
              <a:cs typeface="Times New Roman" panose="02020603050405020304" pitchFamily="18" charset="0"/>
            </a:endParaRPr>
          </a:p>
        </p:txBody>
      </p:sp>
      <p:sp>
        <p:nvSpPr>
          <p:cNvPr id="9" name="object 3">
            <a:extLst>
              <a:ext uri="{FF2B5EF4-FFF2-40B4-BE49-F238E27FC236}">
                <a16:creationId xmlns:a16="http://schemas.microsoft.com/office/drawing/2014/main" id="{68BC382C-506F-4908-6AC3-C0AA73064F47}"/>
              </a:ext>
            </a:extLst>
          </p:cNvPr>
          <p:cNvSpPr txBox="1"/>
          <p:nvPr/>
        </p:nvSpPr>
        <p:spPr>
          <a:xfrm>
            <a:off x="2560320" y="3871854"/>
            <a:ext cx="7071360" cy="2105705"/>
          </a:xfrm>
          <a:prstGeom prst="rect">
            <a:avLst/>
          </a:prstGeom>
        </p:spPr>
        <p:txBody>
          <a:bodyPr vert="horz" wrap="square" lIns="0" tIns="12700" rIns="0" bIns="0" rtlCol="0">
            <a:spAutoFit/>
          </a:bodyPr>
          <a:lstStyle/>
          <a:p>
            <a:pPr algn="ctr">
              <a:lnSpc>
                <a:spcPct val="100000"/>
              </a:lnSpc>
              <a:spcBef>
                <a:spcPts val="200"/>
              </a:spcBef>
            </a:pPr>
            <a:r>
              <a:rPr lang="en-US" b="1" dirty="0">
                <a:latin typeface="Times New Roman"/>
                <a:cs typeface="Times New Roman"/>
              </a:rPr>
              <a:t>Team Members:</a:t>
            </a:r>
          </a:p>
          <a:p>
            <a:pPr algn="ctr">
              <a:lnSpc>
                <a:spcPct val="100000"/>
              </a:lnSpc>
              <a:spcBef>
                <a:spcPts val="200"/>
              </a:spcBef>
            </a:pPr>
            <a:r>
              <a:rPr lang="en-US" dirty="0">
                <a:latin typeface="Times New Roman"/>
                <a:cs typeface="Times New Roman"/>
              </a:rPr>
              <a:t>• Ishan Tare (23BCE0603)</a:t>
            </a:r>
          </a:p>
          <a:p>
            <a:pPr algn="ctr">
              <a:lnSpc>
                <a:spcPct val="100000"/>
              </a:lnSpc>
              <a:spcBef>
                <a:spcPts val="200"/>
              </a:spcBef>
            </a:pPr>
            <a:r>
              <a:rPr lang="en-US" dirty="0">
                <a:latin typeface="Times New Roman"/>
                <a:cs typeface="Times New Roman"/>
              </a:rPr>
              <a:t>• Aryan Chopra (23BCI0144)</a:t>
            </a:r>
          </a:p>
          <a:p>
            <a:pPr algn="ctr">
              <a:lnSpc>
                <a:spcPct val="100000"/>
              </a:lnSpc>
              <a:spcBef>
                <a:spcPts val="200"/>
              </a:spcBef>
            </a:pPr>
            <a:r>
              <a:rPr lang="en-US" dirty="0">
                <a:latin typeface="Times New Roman"/>
                <a:cs typeface="Times New Roman"/>
              </a:rPr>
              <a:t>• Sarth Joshi (23BCE0384)</a:t>
            </a:r>
          </a:p>
          <a:p>
            <a:pPr algn="ctr">
              <a:lnSpc>
                <a:spcPct val="100000"/>
              </a:lnSpc>
              <a:spcBef>
                <a:spcPts val="200"/>
              </a:spcBef>
            </a:pPr>
            <a:endParaRPr lang="en-US" dirty="0">
              <a:latin typeface="Times New Roman"/>
              <a:cs typeface="Times New Roman"/>
            </a:endParaRPr>
          </a:p>
          <a:p>
            <a:pPr algn="ctr">
              <a:lnSpc>
                <a:spcPct val="100000"/>
              </a:lnSpc>
              <a:spcBef>
                <a:spcPts val="200"/>
              </a:spcBef>
            </a:pPr>
            <a:r>
              <a:rPr lang="en-US" b="1" dirty="0">
                <a:latin typeface="Times New Roman"/>
                <a:cs typeface="Times New Roman"/>
              </a:rPr>
              <a:t>Faculty Guide:</a:t>
            </a:r>
          </a:p>
          <a:p>
            <a:pPr algn="ctr">
              <a:lnSpc>
                <a:spcPct val="100000"/>
              </a:lnSpc>
              <a:spcBef>
                <a:spcPts val="200"/>
              </a:spcBef>
            </a:pPr>
            <a:r>
              <a:rPr lang="en-US" dirty="0">
                <a:latin typeface="Times New Roman"/>
                <a:cs typeface="Times New Roman"/>
              </a:rPr>
              <a:t>• Dr. Saurabh Agarwal</a:t>
            </a:r>
          </a:p>
        </p:txBody>
      </p:sp>
    </p:spTree>
    <p:extLst>
      <p:ext uri="{BB962C8B-B14F-4D97-AF65-F5344CB8AC3E}">
        <p14:creationId xmlns:p14="http://schemas.microsoft.com/office/powerpoint/2010/main" val="424303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8A428-04DA-E6A8-7606-5D2FE5F31C52}"/>
              </a:ext>
            </a:extLst>
          </p:cNvPr>
          <p:cNvSpPr>
            <a:spLocks noGrp="1"/>
          </p:cNvSpPr>
          <p:nvPr>
            <p:ph idx="1"/>
          </p:nvPr>
        </p:nvSpPr>
        <p:spPr>
          <a:xfrm>
            <a:off x="838200" y="1683862"/>
            <a:ext cx="10515600" cy="869867"/>
          </a:xfrm>
        </p:spPr>
        <p:txBody>
          <a:bodyPr>
            <a:normAutofit/>
          </a:bodyPr>
          <a:lstStyle/>
          <a:p>
            <a:pPr marL="0" indent="0" algn="just">
              <a:buNone/>
            </a:pPr>
            <a:r>
              <a:rPr lang="en-US" sz="1600" dirty="0">
                <a:latin typeface="Times New Roman" panose="02020603050405020304" pitchFamily="18" charset="0"/>
                <a:cs typeface="Times New Roman" panose="02020603050405020304" pitchFamily="18" charset="0"/>
              </a:rPr>
              <a:t>To design, develop, and evaluate LAPS (Linguistic Adaptive Preservation Scoring)—an explainable token-level decision framework that prevents over-translation in code-mixed text rewriting by adaptively identifying and preserving naturally borrowed and domain-specific tokens prior to LLM generation.</a:t>
            </a:r>
            <a:endParaRPr lang="en-IN" sz="16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027305EA-516C-11F8-8A54-2BA046094ABC}"/>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spc="-25" dirty="0">
                <a:latin typeface="Times New Roman" panose="02020603050405020304" pitchFamily="18" charset="0"/>
                <a:cs typeface="Times New Roman" panose="02020603050405020304" pitchFamily="18" charset="0"/>
              </a:rPr>
              <a:t>Aim</a:t>
            </a:r>
            <a:endParaRPr sz="30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779E6AA7-AE20-8A91-BA42-261BF76A2F8B}"/>
              </a:ext>
            </a:extLst>
          </p:cNvPr>
          <p:cNvSpPr>
            <a:spLocks noGrp="1"/>
          </p:cNvSpPr>
          <p:nvPr>
            <p:ph type="dt" sz="half" idx="10"/>
          </p:nvPr>
        </p:nvSpPr>
        <p:spPr/>
        <p:txBody>
          <a:bodyPr/>
          <a:lstStyle/>
          <a:p>
            <a:fld id="{61736562-4E3F-4038-A291-A7AE35CC3E6A}" type="datetime1">
              <a:rPr lang="en-IN" smtClean="0"/>
              <a:t>21-07-2026</a:t>
            </a:fld>
            <a:endParaRPr lang="en-IN"/>
          </a:p>
        </p:txBody>
      </p:sp>
      <p:sp>
        <p:nvSpPr>
          <p:cNvPr id="8" name="Footer Placeholder 7">
            <a:extLst>
              <a:ext uri="{FF2B5EF4-FFF2-40B4-BE49-F238E27FC236}">
                <a16:creationId xmlns:a16="http://schemas.microsoft.com/office/drawing/2014/main" id="{B77FE434-77F0-B8BE-9198-66090332F3F0}"/>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5AD6A9DA-AEE9-F6FE-EFA8-06396314F7E6}"/>
              </a:ext>
            </a:extLst>
          </p:cNvPr>
          <p:cNvSpPr>
            <a:spLocks noGrp="1"/>
          </p:cNvSpPr>
          <p:nvPr>
            <p:ph type="sldNum" sz="quarter" idx="12"/>
          </p:nvPr>
        </p:nvSpPr>
        <p:spPr/>
        <p:txBody>
          <a:bodyPr/>
          <a:lstStyle/>
          <a:p>
            <a:fld id="{65201FD4-9D8D-4491-815B-63C7BF4F0034}" type="slidenum">
              <a:rPr lang="en-IN" smtClean="0"/>
              <a:t>2</a:t>
            </a:fld>
            <a:endParaRPr lang="en-IN"/>
          </a:p>
        </p:txBody>
      </p:sp>
      <p:sp>
        <p:nvSpPr>
          <p:cNvPr id="2" name="object 2">
            <a:extLst>
              <a:ext uri="{FF2B5EF4-FFF2-40B4-BE49-F238E27FC236}">
                <a16:creationId xmlns:a16="http://schemas.microsoft.com/office/drawing/2014/main" id="{8E38247C-D26C-75D4-746A-2A29F2BAB459}"/>
              </a:ext>
            </a:extLst>
          </p:cNvPr>
          <p:cNvSpPr txBox="1">
            <a:spLocks/>
          </p:cNvSpPr>
          <p:nvPr/>
        </p:nvSpPr>
        <p:spPr>
          <a:xfrm>
            <a:off x="838200" y="2852304"/>
            <a:ext cx="10515600" cy="576696"/>
          </a:xfrm>
          <a:prstGeom prst="rect">
            <a:avLst/>
          </a:prstGeom>
        </p:spPr>
        <p:txBody>
          <a:bodyPr vert="horz" wrap="square" lIns="0" tIns="113919"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86409">
              <a:lnSpc>
                <a:spcPct val="100000"/>
              </a:lnSpc>
              <a:spcBef>
                <a:spcPts val="130"/>
              </a:spcBef>
            </a:pPr>
            <a:r>
              <a:rPr lang="en-US" sz="3000" b="1" spc="-25" dirty="0">
                <a:latin typeface="Times New Roman" panose="02020603050405020304" pitchFamily="18" charset="0"/>
                <a:cs typeface="Times New Roman" panose="02020603050405020304" pitchFamily="18" charset="0"/>
              </a:rPr>
              <a:t>Scope</a:t>
            </a:r>
            <a:endParaRPr lang="en-US" sz="3000" b="1"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E91B35F2-DFE1-4EBA-9B74-BD60CF6DBA86}"/>
              </a:ext>
            </a:extLst>
          </p:cNvPr>
          <p:cNvSpPr txBox="1">
            <a:spLocks/>
          </p:cNvSpPr>
          <p:nvPr/>
        </p:nvSpPr>
        <p:spPr>
          <a:xfrm>
            <a:off x="838200" y="3727575"/>
            <a:ext cx="10515600" cy="18144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 Domain Scope: Code-mixed Indian English communication (Hinglish, </a:t>
            </a:r>
            <a:r>
              <a:rPr lang="en-US" sz="1600" dirty="0" err="1">
                <a:latin typeface="Times New Roman" panose="02020603050405020304" pitchFamily="18" charset="0"/>
                <a:cs typeface="Times New Roman" panose="02020603050405020304" pitchFamily="18" charset="0"/>
              </a:rPr>
              <a:t>Tanglish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Benglish</a:t>
            </a:r>
            <a:r>
              <a:rPr lang="en-US" sz="1600" dirty="0">
                <a:latin typeface="Times New Roman" panose="02020603050405020304" pitchFamily="18" charset="0"/>
                <a:cs typeface="Times New Roman" panose="02020603050405020304" pitchFamily="18" charset="0"/>
              </a:rPr>
              <a:t>) across casual, social, and professional registers.</a:t>
            </a:r>
          </a:p>
          <a:p>
            <a:pPr marL="0" indent="0" algn="just">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 Technical Scope: Multi-feature token extraction, information-theoretic entropy gating, adaptive threshold engine, LLM rewriter integration, and SHAP-based counterfactual XAI.</a:t>
            </a:r>
          </a:p>
          <a:p>
            <a:pPr marL="0" indent="0" algn="just">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 Evaluation Scope: Benchmark evaluation against </a:t>
            </a:r>
            <a:r>
              <a:rPr lang="en-US" sz="1600" dirty="0" err="1">
                <a:latin typeface="Times New Roman" panose="02020603050405020304" pitchFamily="18" charset="0"/>
                <a:cs typeface="Times New Roman" panose="02020603050405020304" pitchFamily="18" charset="0"/>
              </a:rPr>
              <a:t>IndicTrans</a:t>
            </a:r>
            <a:r>
              <a:rPr lang="en-US" sz="1600" dirty="0">
                <a:latin typeface="Times New Roman" panose="02020603050405020304" pitchFamily="18" charset="0"/>
                <a:cs typeface="Times New Roman" panose="02020603050405020304" pitchFamily="18" charset="0"/>
              </a:rPr>
              <a:t> &amp; baseline LLMs using BLEU, COMET, </a:t>
            </a:r>
            <a:r>
              <a:rPr lang="en-US" sz="1600" dirty="0" err="1">
                <a:latin typeface="Times New Roman" panose="02020603050405020304" pitchFamily="18" charset="0"/>
                <a:cs typeface="Times New Roman" panose="02020603050405020304" pitchFamily="18" charset="0"/>
              </a:rPr>
              <a:t>BERTScore</a:t>
            </a:r>
            <a:r>
              <a:rPr lang="en-US" sz="1600" dirty="0">
                <a:latin typeface="Times New Roman" panose="02020603050405020304" pitchFamily="18" charset="0"/>
                <a:cs typeface="Times New Roman" panose="02020603050405020304" pitchFamily="18" charset="0"/>
              </a:rPr>
              <a:t>, and human readability/trust assessments.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3518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a:xfrm>
            <a:off x="838200" y="1714307"/>
            <a:ext cx="10515600" cy="2643008"/>
          </a:xfrm>
        </p:spPr>
        <p:txBody>
          <a:bodyPr>
            <a:noAutofit/>
          </a:bodyPr>
          <a:lstStyle/>
          <a:p>
            <a:pPr marL="0" indent="0" algn="just">
              <a:buNone/>
            </a:pPr>
            <a:r>
              <a:rPr lang="en-US" sz="1600" dirty="0">
                <a:latin typeface="Times New Roman" panose="02020603050405020304" pitchFamily="18" charset="0"/>
                <a:cs typeface="Times New Roman" panose="02020603050405020304" pitchFamily="18" charset="0"/>
              </a:rPr>
              <a:t>Code-mixed communication, where multilingual speakers fluidly combine English with regional languages (e.g., Hinglish, </a:t>
            </a:r>
            <a:r>
              <a:rPr lang="en-US" sz="1600" dirty="0" err="1">
                <a:latin typeface="Times New Roman" panose="02020603050405020304" pitchFamily="18" charset="0"/>
                <a:cs typeface="Times New Roman" panose="02020603050405020304" pitchFamily="18" charset="0"/>
              </a:rPr>
              <a:t>Tanglish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Benglish</a:t>
            </a:r>
            <a:r>
              <a:rPr lang="en-US" sz="1600" dirty="0">
                <a:latin typeface="Times New Roman" panose="02020603050405020304" pitchFamily="18" charset="0"/>
                <a:cs typeface="Times New Roman" panose="02020603050405020304" pitchFamily="18" charset="0"/>
              </a:rPr>
              <a:t>), has become the primary mode of digital interaction across social media, instant messaging, and modern digital platforms. While contemporary multilingual Large Language Models (LLMs) and Neural Machine Translation (NMT) architectures demonstrate strong fluency in monolithic translation, they systematically suffer from severe over-translation when rewriting code-mixed text. These models forcefully replace naturally borrowed English loanwords (e.g., meeting, client, deadline, server, project, startup) with literal, archaic target-language translations. This distorts conversational pragmatics, degrades natural reading flow, and undermines user trust in multilingual AI systems.</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To resolve this challenge, this project introduces LAPS (Linguistic Adaptive Preservation Scoring), a novel, explainable pre-generation decision framework. Operating at the token level before text generation, LAPS constructs an explicit decision layer that evaluates each code-mixed word using multi-dimensional features—including borrowing frequency, domain specificity, semantic importance, syntactic dependency graph constraints, and cross-lingual logit entropy. Based on these features, LAPS computes a dynamic Preservation Score and applies dynamic register-aware thresholds to decide whether a token should be preserved in its original form or rewritten. By conditioning downstream LLMs with explicit token preservation masks and generating counterfactual Shapley-attribution explanations, LAPS eliminates over-translation, guarantees intent preservation, and establishes transparent, human-auditable decision making. The framework will be empirically validated against state-of-the-art baselines (IndicTrans2, direct LLM prompting) on </a:t>
            </a:r>
            <a:r>
              <a:rPr lang="en-US" sz="1600" dirty="0" err="1">
                <a:latin typeface="Times New Roman" panose="02020603050405020304" pitchFamily="18" charset="0"/>
                <a:cs typeface="Times New Roman" panose="02020603050405020304" pitchFamily="18" charset="0"/>
              </a:rPr>
              <a:t>LinCE</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GLUECoS</a:t>
            </a:r>
            <a:r>
              <a:rPr lang="en-US" sz="1600" dirty="0">
                <a:latin typeface="Times New Roman" panose="02020603050405020304" pitchFamily="18" charset="0"/>
                <a:cs typeface="Times New Roman" panose="02020603050405020304" pitchFamily="18" charset="0"/>
              </a:rPr>
              <a:t> benchmarks using BLEU, COMET, </a:t>
            </a:r>
            <a:r>
              <a:rPr lang="en-US" sz="1600" dirty="0" err="1">
                <a:latin typeface="Times New Roman" panose="02020603050405020304" pitchFamily="18" charset="0"/>
                <a:cs typeface="Times New Roman" panose="02020603050405020304" pitchFamily="18" charset="0"/>
              </a:rPr>
              <a:t>BERTScore</a:t>
            </a:r>
            <a:r>
              <a:rPr lang="en-US" sz="1600" dirty="0">
                <a:latin typeface="Times New Roman" panose="02020603050405020304" pitchFamily="18" charset="0"/>
                <a:cs typeface="Times New Roman" panose="02020603050405020304" pitchFamily="18" charset="0"/>
              </a:rPr>
              <a:t>, and human qualitative assessment.</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Abstract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21-07-2026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3</a:t>
            </a:fld>
            <a:endParaRPr lang="en-IN"/>
          </a:p>
        </p:txBody>
      </p:sp>
    </p:spTree>
    <p:extLst>
      <p:ext uri="{BB962C8B-B14F-4D97-AF65-F5344CB8AC3E}">
        <p14:creationId xmlns:p14="http://schemas.microsoft.com/office/powerpoint/2010/main" val="3453097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435FB437-6170-6BA2-1A38-A902855A3E61}"/>
              </a:ext>
            </a:extLst>
          </p:cNvPr>
          <p:cNvSpPr txBox="1">
            <a:spLocks noGrp="1"/>
          </p:cNvSpPr>
          <p:nvPr>
            <p:ph type="title"/>
          </p:nvPr>
        </p:nvSpPr>
        <p:spPr>
          <a:xfrm>
            <a:off x="838200" y="704891"/>
            <a:ext cx="10515601"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a:t>
            </a:r>
            <a:endParaRPr sz="30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913BC6E0-D294-E70D-8B27-13FBFEE5E6F7}"/>
              </a:ext>
            </a:extLst>
          </p:cNvPr>
          <p:cNvSpPr>
            <a:spLocks noGrp="1"/>
          </p:cNvSpPr>
          <p:nvPr>
            <p:ph type="dt" sz="half" idx="10"/>
          </p:nvPr>
        </p:nvSpPr>
        <p:spPr/>
        <p:txBody>
          <a:bodyPr/>
          <a:lstStyle/>
          <a:p>
            <a:fld id="{E919193B-09C0-4C85-858C-650926A9B146}" type="datetime1">
              <a:rPr lang="en-IN" smtClean="0"/>
              <a:t>21-07-2026</a:t>
            </a:fld>
            <a:endParaRPr lang="en-IN"/>
          </a:p>
        </p:txBody>
      </p:sp>
      <p:sp>
        <p:nvSpPr>
          <p:cNvPr id="9" name="Footer Placeholder 8">
            <a:extLst>
              <a:ext uri="{FF2B5EF4-FFF2-40B4-BE49-F238E27FC236}">
                <a16:creationId xmlns:a16="http://schemas.microsoft.com/office/drawing/2014/main"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id="{5A8F14EB-D02F-8EDE-87F4-A3F7E8D20C44}"/>
              </a:ext>
            </a:extLst>
          </p:cNvPr>
          <p:cNvSpPr>
            <a:spLocks noGrp="1"/>
          </p:cNvSpPr>
          <p:nvPr>
            <p:ph type="sldNum" sz="quarter" idx="12"/>
          </p:nvPr>
        </p:nvSpPr>
        <p:spPr/>
        <p:txBody>
          <a:bodyPr/>
          <a:lstStyle/>
          <a:p>
            <a:fld id="{65201FD4-9D8D-4491-815B-63C7BF4F0034}" type="slidenum">
              <a:rPr lang="en-IN" smtClean="0"/>
              <a:t>4</a:t>
            </a:fld>
            <a:endParaRPr lang="en-IN"/>
          </a:p>
        </p:txBody>
      </p:sp>
      <p:graphicFrame>
        <p:nvGraphicFramePr>
          <p:cNvPr id="11" name="Content Placeholder 10">
            <a:extLst>
              <a:ext uri="{FF2B5EF4-FFF2-40B4-BE49-F238E27FC236}">
                <a16:creationId xmlns:a16="http://schemas.microsoft.com/office/drawing/2014/main" id="{04E99454-7B54-ABAD-5930-3A55958104C1}"/>
              </a:ext>
            </a:extLst>
          </p:cNvPr>
          <p:cNvGraphicFramePr>
            <a:graphicFrameLocks noGrp="1"/>
          </p:cNvGraphicFramePr>
          <p:nvPr>
            <p:ph idx="1"/>
            <p:extLst>
              <p:ext uri="{D42A27DB-BD31-4B8C-83A1-F6EECF244321}">
                <p14:modId xmlns:p14="http://schemas.microsoft.com/office/powerpoint/2010/main" val="696728841"/>
              </p:ext>
            </p:extLst>
          </p:nvPr>
        </p:nvGraphicFramePr>
        <p:xfrm>
          <a:off x="838200" y="1685131"/>
          <a:ext cx="10515600" cy="4133088"/>
        </p:xfrm>
        <a:graphic>
          <a:graphicData uri="http://schemas.openxmlformats.org/drawingml/2006/table">
            <a:tbl>
              <a:tblPr>
                <a:tableStyleId>{2D5ABB26-0587-4C30-8999-92F81FD0307C}</a:tableStyleId>
              </a:tblPr>
              <a:tblGrid>
                <a:gridCol w="2103120">
                  <a:extLst>
                    <a:ext uri="{9D8B030D-6E8A-4147-A177-3AD203B41FA5}">
                      <a16:colId xmlns:a16="http://schemas.microsoft.com/office/drawing/2014/main" val="1053563451"/>
                    </a:ext>
                  </a:extLst>
                </a:gridCol>
                <a:gridCol w="2103120">
                  <a:extLst>
                    <a:ext uri="{9D8B030D-6E8A-4147-A177-3AD203B41FA5}">
                      <a16:colId xmlns:a16="http://schemas.microsoft.com/office/drawing/2014/main" val="2369955666"/>
                    </a:ext>
                  </a:extLst>
                </a:gridCol>
                <a:gridCol w="2103120">
                  <a:extLst>
                    <a:ext uri="{9D8B030D-6E8A-4147-A177-3AD203B41FA5}">
                      <a16:colId xmlns:a16="http://schemas.microsoft.com/office/drawing/2014/main" val="2038744023"/>
                    </a:ext>
                  </a:extLst>
                </a:gridCol>
                <a:gridCol w="2103120">
                  <a:extLst>
                    <a:ext uri="{9D8B030D-6E8A-4147-A177-3AD203B41FA5}">
                      <a16:colId xmlns:a16="http://schemas.microsoft.com/office/drawing/2014/main" val="3056157896"/>
                    </a:ext>
                  </a:extLst>
                </a:gridCol>
                <a:gridCol w="2103120">
                  <a:extLst>
                    <a:ext uri="{9D8B030D-6E8A-4147-A177-3AD203B41FA5}">
                      <a16:colId xmlns:a16="http://schemas.microsoft.com/office/drawing/2014/main" val="1771455105"/>
                    </a:ext>
                  </a:extLst>
                </a:gridCol>
              </a:tblGrid>
              <a:tr h="0">
                <a:tc>
                  <a:txBody>
                    <a:bodyPr/>
                    <a:lstStyle/>
                    <a:p>
                      <a:pPr indent="0" algn="l">
                        <a:buNone/>
                      </a:pPr>
                      <a:r>
                        <a:rPr lang="en-US" sz="980" b="1" i="0">
                          <a:solidFill>
                            <a:schemeClr val="tx1"/>
                          </a:solidFill>
                          <a:effectLst/>
                          <a:latin typeface="Times New Roman" panose="02020603050405020304" pitchFamily="18" charset="0"/>
                          <a:cs typeface="Times New Roman" panose="02020603050405020304" pitchFamily="18" charset="0"/>
                        </a:rPr>
                        <a:t>Paper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1" i="0">
                          <a:solidFill>
                            <a:schemeClr val="tx1"/>
                          </a:solidFill>
                          <a:effectLst/>
                          <a:latin typeface="Times New Roman" panose="02020603050405020304" pitchFamily="18" charset="0"/>
                          <a:cs typeface="Times New Roman" panose="02020603050405020304" pitchFamily="18" charset="0"/>
                        </a:rPr>
                        <a:t>Objective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1" i="0">
                          <a:solidFill>
                            <a:schemeClr val="tx1"/>
                          </a:solidFill>
                          <a:effectLst/>
                          <a:latin typeface="Times New Roman" panose="02020603050405020304" pitchFamily="18" charset="0"/>
                          <a:cs typeface="Times New Roman" panose="02020603050405020304" pitchFamily="18" charset="0"/>
                        </a:rPr>
                        <a:t>Methodology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1" i="0">
                          <a:solidFill>
                            <a:schemeClr val="tx1"/>
                          </a:solidFill>
                          <a:effectLst/>
                          <a:latin typeface="Times New Roman" panose="02020603050405020304" pitchFamily="18" charset="0"/>
                          <a:cs typeface="Times New Roman" panose="02020603050405020304" pitchFamily="18" charset="0"/>
                        </a:rPr>
                        <a:t>Pros/Cons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1" i="0" dirty="0">
                          <a:solidFill>
                            <a:schemeClr val="tx1"/>
                          </a:solidFill>
                          <a:effectLst/>
                          <a:latin typeface="Times New Roman" panose="02020603050405020304" pitchFamily="18" charset="0"/>
                          <a:cs typeface="Times New Roman" panose="02020603050405020304" pitchFamily="18" charset="0"/>
                        </a:rPr>
                        <a:t>Findings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77623"/>
                  </a:ext>
                </a:extLst>
              </a:tr>
              <a:tr h="0">
                <a:tc>
                  <a:txBody>
                    <a:bodyPr/>
                    <a:lstStyle/>
                    <a:p>
                      <a:pPr indent="0" algn="l">
                        <a:buNone/>
                      </a:pPr>
                      <a:r>
                        <a:rPr lang="en-US" sz="980" b="1" i="0" dirty="0">
                          <a:solidFill>
                            <a:schemeClr val="tx1"/>
                          </a:solidFill>
                          <a:effectLst/>
                          <a:latin typeface="Times New Roman" panose="02020603050405020304" pitchFamily="18" charset="0"/>
                          <a:cs typeface="Times New Roman" panose="02020603050405020304" pitchFamily="18" charset="0"/>
                        </a:rPr>
                        <a:t>Aguilar et al.</a:t>
                      </a:r>
                      <a:br>
                        <a:rPr lang="en-US" sz="980" b="0" i="0" dirty="0">
                          <a:solidFill>
                            <a:schemeClr val="tx1"/>
                          </a:solidFill>
                          <a:effectLst/>
                          <a:latin typeface="Times New Roman" panose="02020603050405020304" pitchFamily="18" charset="0"/>
                          <a:cs typeface="Times New Roman" panose="02020603050405020304" pitchFamily="18" charset="0"/>
                        </a:rPr>
                      </a:br>
                      <a:r>
                        <a:rPr lang="en-US" sz="980" b="0" i="1" dirty="0">
                          <a:solidFill>
                            <a:schemeClr val="tx1"/>
                          </a:solidFill>
                          <a:effectLst/>
                          <a:latin typeface="Times New Roman" panose="02020603050405020304" pitchFamily="18" charset="0"/>
                          <a:cs typeface="Times New Roman" panose="02020603050405020304" pitchFamily="18" charset="0"/>
                        </a:rPr>
                        <a:t>(</a:t>
                      </a:r>
                      <a:r>
                        <a:rPr lang="en-US" sz="980" b="0" i="1" dirty="0" err="1">
                          <a:solidFill>
                            <a:schemeClr val="tx1"/>
                          </a:solidFill>
                          <a:effectLst/>
                          <a:latin typeface="Times New Roman" panose="02020603050405020304" pitchFamily="18" charset="0"/>
                          <a:cs typeface="Times New Roman" panose="02020603050405020304" pitchFamily="18" charset="0"/>
                        </a:rPr>
                        <a:t>LinCE</a:t>
                      </a:r>
                      <a:r>
                        <a:rPr lang="en-US" sz="980" b="0" i="1" dirty="0">
                          <a:solidFill>
                            <a:schemeClr val="tx1"/>
                          </a:solidFill>
                          <a:effectLst/>
                          <a:latin typeface="Times New Roman" panose="02020603050405020304" pitchFamily="18" charset="0"/>
                          <a:cs typeface="Times New Roman" panose="02020603050405020304" pitchFamily="18" charset="0"/>
                        </a:rPr>
                        <a:t>, LREC 2020)</a:t>
                      </a:r>
                      <a:br>
                        <a:rPr lang="en-US" sz="980" b="0" i="0" dirty="0">
                          <a:solidFill>
                            <a:schemeClr val="tx1"/>
                          </a:solidFill>
                          <a:effectLst/>
                          <a:latin typeface="Times New Roman" panose="02020603050405020304" pitchFamily="18" charset="0"/>
                          <a:cs typeface="Times New Roman" panose="02020603050405020304" pitchFamily="18" charset="0"/>
                        </a:rPr>
                      </a:br>
                      <a:endParaRPr lang="en-US" sz="980" b="0" i="0" dirty="0">
                        <a:solidFill>
                          <a:schemeClr val="tx1"/>
                        </a:solidFill>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0" i="0">
                          <a:solidFill>
                            <a:schemeClr val="tx1"/>
                          </a:solidFill>
                          <a:effectLst/>
                          <a:latin typeface="Times New Roman" panose="02020603050405020304" pitchFamily="18" charset="0"/>
                          <a:cs typeface="Times New Roman" panose="02020603050405020304" pitchFamily="18" charset="0"/>
                        </a:rPr>
                        <a:t>Provide a centralized evaluation benchmark for linguistic code-switching.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0" i="0">
                          <a:solidFill>
                            <a:schemeClr val="tx1"/>
                          </a:solidFill>
                          <a:effectLst/>
                          <a:latin typeface="Times New Roman" panose="02020603050405020304" pitchFamily="18" charset="0"/>
                          <a:cs typeface="Times New Roman" panose="02020603050405020304" pitchFamily="18" charset="0"/>
                        </a:rPr>
                        <a:t>Benchmark suite for POS tagging, NER, and sentiment across Spanish-English and Hinglish.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1" i="0">
                          <a:solidFill>
                            <a:schemeClr val="tx1"/>
                          </a:solidFill>
                          <a:effectLst/>
                          <a:latin typeface="Times New Roman" panose="02020603050405020304" pitchFamily="18" charset="0"/>
                          <a:cs typeface="Times New Roman" panose="02020603050405020304" pitchFamily="18" charset="0"/>
                        </a:rPr>
                        <a:t>Pros</a:t>
                      </a:r>
                      <a:r>
                        <a:rPr lang="en-US" sz="980" b="0" i="0">
                          <a:solidFill>
                            <a:schemeClr val="tx1"/>
                          </a:solidFill>
                          <a:effectLst/>
                          <a:latin typeface="Times New Roman" panose="02020603050405020304" pitchFamily="18" charset="0"/>
                          <a:cs typeface="Times New Roman" panose="02020603050405020304" pitchFamily="18" charset="0"/>
                        </a:rPr>
                        <a:t>: Standardized evaluation benchmark.</a:t>
                      </a:r>
                      <a:br>
                        <a:rPr lang="en-US" sz="980" b="0" i="0">
                          <a:solidFill>
                            <a:schemeClr val="tx1"/>
                          </a:solidFill>
                          <a:effectLst/>
                          <a:latin typeface="Times New Roman" panose="02020603050405020304" pitchFamily="18" charset="0"/>
                          <a:cs typeface="Times New Roman" panose="02020603050405020304" pitchFamily="18" charset="0"/>
                        </a:rPr>
                      </a:br>
                      <a:r>
                        <a:rPr lang="en-US" sz="980" b="1" i="0">
                          <a:solidFill>
                            <a:schemeClr val="tx1"/>
                          </a:solidFill>
                          <a:effectLst/>
                          <a:latin typeface="Times New Roman" panose="02020603050405020304" pitchFamily="18" charset="0"/>
                          <a:cs typeface="Times New Roman" panose="02020603050405020304" pitchFamily="18" charset="0"/>
                        </a:rPr>
                        <a:t>Cons</a:t>
                      </a:r>
                      <a:r>
                        <a:rPr lang="en-US" sz="980" b="0" i="0">
                          <a:solidFill>
                            <a:schemeClr val="tx1"/>
                          </a:solidFill>
                          <a:effectLst/>
                          <a:latin typeface="Times New Roman" panose="02020603050405020304" pitchFamily="18" charset="0"/>
                          <a:cs typeface="Times New Roman" panose="02020603050405020304" pitchFamily="18" charset="0"/>
                        </a:rPr>
                        <a:t>: Evaluates sequence tagging; lacks generative rewriting or token preservation.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0" i="0" dirty="0">
                          <a:solidFill>
                            <a:schemeClr val="tx1"/>
                          </a:solidFill>
                          <a:effectLst/>
                          <a:latin typeface="Times New Roman" panose="02020603050405020304" pitchFamily="18" charset="0"/>
                          <a:cs typeface="Times New Roman" panose="02020603050405020304" pitchFamily="18" charset="0"/>
                        </a:rPr>
                        <a:t>Code-mixed NLP requires specialized benchmarks, but sequence tagging models cannot handle generative over-translation.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5191726"/>
                  </a:ext>
                </a:extLst>
              </a:tr>
              <a:tr h="0">
                <a:tc>
                  <a:txBody>
                    <a:bodyPr/>
                    <a:lstStyle/>
                    <a:p>
                      <a:pPr indent="0" algn="l">
                        <a:buNone/>
                      </a:pPr>
                      <a:r>
                        <a:rPr lang="en-US" sz="980" b="1" i="0" dirty="0">
                          <a:solidFill>
                            <a:schemeClr val="tx1"/>
                          </a:solidFill>
                          <a:effectLst/>
                          <a:latin typeface="Times New Roman" panose="02020603050405020304" pitchFamily="18" charset="0"/>
                          <a:cs typeface="Times New Roman" panose="02020603050405020304" pitchFamily="18" charset="0"/>
                        </a:rPr>
                        <a:t>Khanuja et al.</a:t>
                      </a:r>
                      <a:br>
                        <a:rPr lang="en-US" sz="980" b="0" i="0" dirty="0">
                          <a:solidFill>
                            <a:schemeClr val="tx1"/>
                          </a:solidFill>
                          <a:effectLst/>
                          <a:latin typeface="Times New Roman" panose="02020603050405020304" pitchFamily="18" charset="0"/>
                          <a:cs typeface="Times New Roman" panose="02020603050405020304" pitchFamily="18" charset="0"/>
                        </a:rPr>
                      </a:br>
                      <a:r>
                        <a:rPr lang="en-US" sz="980" b="0" i="1" dirty="0">
                          <a:solidFill>
                            <a:schemeClr val="tx1"/>
                          </a:solidFill>
                          <a:effectLst/>
                          <a:latin typeface="Times New Roman" panose="02020603050405020304" pitchFamily="18" charset="0"/>
                          <a:cs typeface="Times New Roman" panose="02020603050405020304" pitchFamily="18" charset="0"/>
                        </a:rPr>
                        <a:t>(</a:t>
                      </a:r>
                      <a:r>
                        <a:rPr lang="en-US" sz="980" b="0" i="1" dirty="0" err="1">
                          <a:solidFill>
                            <a:schemeClr val="tx1"/>
                          </a:solidFill>
                          <a:effectLst/>
                          <a:latin typeface="Times New Roman" panose="02020603050405020304" pitchFamily="18" charset="0"/>
                          <a:cs typeface="Times New Roman" panose="02020603050405020304" pitchFamily="18" charset="0"/>
                        </a:rPr>
                        <a:t>GLUECoS</a:t>
                      </a:r>
                      <a:r>
                        <a:rPr lang="en-US" sz="980" b="0" i="1" dirty="0">
                          <a:solidFill>
                            <a:schemeClr val="tx1"/>
                          </a:solidFill>
                          <a:effectLst/>
                          <a:latin typeface="Times New Roman" panose="02020603050405020304" pitchFamily="18" charset="0"/>
                          <a:cs typeface="Times New Roman" panose="02020603050405020304" pitchFamily="18" charset="0"/>
                        </a:rPr>
                        <a:t>, ACL 2020)</a:t>
                      </a:r>
                      <a:br>
                        <a:rPr lang="en-US" sz="980" b="0" i="0" dirty="0">
                          <a:solidFill>
                            <a:schemeClr val="tx1"/>
                          </a:solidFill>
                          <a:effectLst/>
                          <a:latin typeface="Times New Roman" panose="02020603050405020304" pitchFamily="18" charset="0"/>
                          <a:cs typeface="Times New Roman" panose="02020603050405020304" pitchFamily="18" charset="0"/>
                        </a:rPr>
                      </a:br>
                      <a:endParaRPr lang="en-US" sz="980" b="0" i="0" dirty="0">
                        <a:solidFill>
                          <a:schemeClr val="tx1"/>
                        </a:solidFill>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0" i="0">
                          <a:solidFill>
                            <a:schemeClr val="tx1"/>
                          </a:solidFill>
                          <a:effectLst/>
                          <a:latin typeface="Times New Roman" panose="02020603050405020304" pitchFamily="18" charset="0"/>
                          <a:cs typeface="Times New Roman" panose="02020603050405020304" pitchFamily="18" charset="0"/>
                        </a:rPr>
                        <a:t>Benchmark pre-trained multilingual models on diverse code-switched NLP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0" i="0">
                          <a:solidFill>
                            <a:schemeClr val="tx1"/>
                          </a:solidFill>
                          <a:effectLst/>
                          <a:latin typeface="Times New Roman" panose="02020603050405020304" pitchFamily="18" charset="0"/>
                          <a:cs typeface="Times New Roman" panose="02020603050405020304" pitchFamily="18" charset="0"/>
                        </a:rPr>
                        <a:t>Evaluated mBERT and XLM-R across multiple code-switched task benchmarks.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1" i="0">
                          <a:solidFill>
                            <a:schemeClr val="tx1"/>
                          </a:solidFill>
                          <a:effectLst/>
                          <a:latin typeface="Times New Roman" panose="02020603050405020304" pitchFamily="18" charset="0"/>
                          <a:cs typeface="Times New Roman" panose="02020603050405020304" pitchFamily="18" charset="0"/>
                        </a:rPr>
                        <a:t>Pros</a:t>
                      </a:r>
                      <a:r>
                        <a:rPr lang="en-US" sz="980" b="0" i="0">
                          <a:solidFill>
                            <a:schemeClr val="tx1"/>
                          </a:solidFill>
                          <a:effectLst/>
                          <a:latin typeface="Times New Roman" panose="02020603050405020304" pitchFamily="18" charset="0"/>
                          <a:cs typeface="Times New Roman" panose="02020603050405020304" pitchFamily="18" charset="0"/>
                        </a:rPr>
                        <a:t>: Establishes strong LLM baselines.</a:t>
                      </a:r>
                      <a:br>
                        <a:rPr lang="en-US" sz="980" b="0" i="0">
                          <a:solidFill>
                            <a:schemeClr val="tx1"/>
                          </a:solidFill>
                          <a:effectLst/>
                          <a:latin typeface="Times New Roman" panose="02020603050405020304" pitchFamily="18" charset="0"/>
                          <a:cs typeface="Times New Roman" panose="02020603050405020304" pitchFamily="18" charset="0"/>
                        </a:rPr>
                      </a:br>
                      <a:r>
                        <a:rPr lang="en-US" sz="980" b="1" i="0">
                          <a:solidFill>
                            <a:schemeClr val="tx1"/>
                          </a:solidFill>
                          <a:effectLst/>
                          <a:latin typeface="Times New Roman" panose="02020603050405020304" pitchFamily="18" charset="0"/>
                          <a:cs typeface="Times New Roman" panose="02020603050405020304" pitchFamily="18" charset="0"/>
                        </a:rPr>
                        <a:t>Cons</a:t>
                      </a:r>
                      <a:r>
                        <a:rPr lang="en-US" sz="980" b="0" i="0">
                          <a:solidFill>
                            <a:schemeClr val="tx1"/>
                          </a:solidFill>
                          <a:effectLst/>
                          <a:latin typeface="Times New Roman" panose="02020603050405020304" pitchFamily="18" charset="0"/>
                          <a:cs typeface="Times New Roman" panose="02020603050405020304" pitchFamily="18" charset="0"/>
                        </a:rPr>
                        <a:t>: Identifies translation degradation; lacks an explicit token preservation 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0" i="0">
                          <a:solidFill>
                            <a:schemeClr val="tx1"/>
                          </a:solidFill>
                          <a:effectLst/>
                          <a:latin typeface="Times New Roman" panose="02020603050405020304" pitchFamily="18" charset="0"/>
                          <a:cs typeface="Times New Roman" panose="02020603050405020304" pitchFamily="18" charset="0"/>
                        </a:rPr>
                        <a:t>Multilingual LLMs struggle with code-mixed loanwords, proving the necessity of a pre-generation decision 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5311531"/>
                  </a:ext>
                </a:extLst>
              </a:tr>
              <a:tr h="0">
                <a:tc>
                  <a:txBody>
                    <a:bodyPr/>
                    <a:lstStyle/>
                    <a:p>
                      <a:pPr indent="0" algn="l">
                        <a:buNone/>
                      </a:pPr>
                      <a:r>
                        <a:rPr lang="en-US" sz="980" b="1" i="0" dirty="0">
                          <a:solidFill>
                            <a:schemeClr val="tx1"/>
                          </a:solidFill>
                          <a:effectLst/>
                          <a:latin typeface="Times New Roman" panose="02020603050405020304" pitchFamily="18" charset="0"/>
                          <a:cs typeface="Times New Roman" panose="02020603050405020304" pitchFamily="18" charset="0"/>
                        </a:rPr>
                        <a:t>Pratapa et al.</a:t>
                      </a:r>
                      <a:br>
                        <a:rPr lang="en-US" sz="980" b="0" i="0" dirty="0">
                          <a:solidFill>
                            <a:schemeClr val="tx1"/>
                          </a:solidFill>
                          <a:effectLst/>
                          <a:latin typeface="Times New Roman" panose="02020603050405020304" pitchFamily="18" charset="0"/>
                          <a:cs typeface="Times New Roman" panose="02020603050405020304" pitchFamily="18" charset="0"/>
                        </a:rPr>
                      </a:br>
                      <a:r>
                        <a:rPr lang="en-US" sz="980" b="0" i="1" dirty="0">
                          <a:solidFill>
                            <a:schemeClr val="tx1"/>
                          </a:solidFill>
                          <a:effectLst/>
                          <a:latin typeface="Times New Roman" panose="02020603050405020304" pitchFamily="18" charset="0"/>
                          <a:cs typeface="Times New Roman" panose="02020603050405020304" pitchFamily="18" charset="0"/>
                        </a:rPr>
                        <a:t>(NAACL 2018)</a:t>
                      </a:r>
                      <a:br>
                        <a:rPr lang="en-US" sz="980" b="0" i="0" dirty="0">
                          <a:solidFill>
                            <a:schemeClr val="tx1"/>
                          </a:solidFill>
                          <a:effectLst/>
                          <a:latin typeface="Times New Roman" panose="02020603050405020304" pitchFamily="18" charset="0"/>
                          <a:cs typeface="Times New Roman" panose="02020603050405020304" pitchFamily="18" charset="0"/>
                        </a:rPr>
                      </a:br>
                      <a:endParaRPr lang="en-US" sz="980" b="0" i="0" dirty="0">
                        <a:solidFill>
                          <a:schemeClr val="tx1"/>
                        </a:solidFill>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0" i="0">
                          <a:solidFill>
                            <a:schemeClr val="tx1"/>
                          </a:solidFill>
                          <a:effectLst/>
                          <a:latin typeface="Times New Roman" panose="02020603050405020304" pitchFamily="18" charset="0"/>
                          <a:cs typeface="Times New Roman" panose="02020603050405020304" pitchFamily="18" charset="0"/>
                        </a:rPr>
                        <a:t>Generate grammatically valid code-mixed sentences adhering to linguistic constraints.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0" i="0">
                          <a:solidFill>
                            <a:schemeClr val="tx1"/>
                          </a:solidFill>
                          <a:effectLst/>
                          <a:latin typeface="Times New Roman" panose="02020603050405020304" pitchFamily="18" charset="0"/>
                          <a:cs typeface="Times New Roman" panose="02020603050405020304" pitchFamily="18" charset="0"/>
                        </a:rPr>
                        <a:t>Applied Equivalence Constraint Theory and Matrix Language Frame (MLF) theory.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1" i="0">
                          <a:solidFill>
                            <a:schemeClr val="tx1"/>
                          </a:solidFill>
                          <a:effectLst/>
                          <a:latin typeface="Times New Roman" panose="02020603050405020304" pitchFamily="18" charset="0"/>
                          <a:cs typeface="Times New Roman" panose="02020603050405020304" pitchFamily="18" charset="0"/>
                        </a:rPr>
                        <a:t>Pros</a:t>
                      </a:r>
                      <a:r>
                        <a:rPr lang="en-US" sz="980" b="0" i="0">
                          <a:solidFill>
                            <a:schemeClr val="tx1"/>
                          </a:solidFill>
                          <a:effectLst/>
                          <a:latin typeface="Times New Roman" panose="02020603050405020304" pitchFamily="18" charset="0"/>
                          <a:cs typeface="Times New Roman" panose="02020603050405020304" pitchFamily="18" charset="0"/>
                        </a:rPr>
                        <a:t>: Linguistically sound syntax.</a:t>
                      </a:r>
                      <a:br>
                        <a:rPr lang="en-US" sz="980" b="0" i="0">
                          <a:solidFill>
                            <a:schemeClr val="tx1"/>
                          </a:solidFill>
                          <a:effectLst/>
                          <a:latin typeface="Times New Roman" panose="02020603050405020304" pitchFamily="18" charset="0"/>
                          <a:cs typeface="Times New Roman" panose="02020603050405020304" pitchFamily="18" charset="0"/>
                        </a:rPr>
                      </a:br>
                      <a:r>
                        <a:rPr lang="en-US" sz="980" b="1" i="0">
                          <a:solidFill>
                            <a:schemeClr val="tx1"/>
                          </a:solidFill>
                          <a:effectLst/>
                          <a:latin typeface="Times New Roman" panose="02020603050405020304" pitchFamily="18" charset="0"/>
                          <a:cs typeface="Times New Roman" panose="02020603050405020304" pitchFamily="18" charset="0"/>
                        </a:rPr>
                        <a:t>Cons</a:t>
                      </a:r>
                      <a:r>
                        <a:rPr lang="en-US" sz="980" b="0" i="0">
                          <a:solidFill>
                            <a:schemeClr val="tx1"/>
                          </a:solidFill>
                          <a:effectLst/>
                          <a:latin typeface="Times New Roman" panose="02020603050405020304" pitchFamily="18" charset="0"/>
                          <a:cs typeface="Times New Roman" panose="02020603050405020304" pitchFamily="18" charset="0"/>
                        </a:rPr>
                        <a:t>: Rigid syntactic rules; lacks dynamic feature scoring and context-adaptive thresholds.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0" i="0">
                          <a:solidFill>
                            <a:schemeClr val="tx1"/>
                          </a:solidFill>
                          <a:effectLst/>
                          <a:latin typeface="Times New Roman" panose="02020603050405020304" pitchFamily="18" charset="0"/>
                          <a:cs typeface="Times New Roman" panose="02020603050405020304" pitchFamily="18" charset="0"/>
                        </a:rPr>
                        <a:t>Syntactic constraints improve structural naturalness, but static rule-based systems fail to adapt across communication domains.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8896438"/>
                  </a:ext>
                </a:extLst>
              </a:tr>
              <a:tr h="0">
                <a:tc>
                  <a:txBody>
                    <a:bodyPr/>
                    <a:lstStyle/>
                    <a:p>
                      <a:pPr indent="0" algn="l">
                        <a:buNone/>
                      </a:pPr>
                      <a:r>
                        <a:rPr lang="en-US" sz="980" b="1" i="0" dirty="0">
                          <a:solidFill>
                            <a:schemeClr val="tx1"/>
                          </a:solidFill>
                          <a:effectLst/>
                          <a:latin typeface="Times New Roman" panose="02020603050405020304" pitchFamily="18" charset="0"/>
                          <a:cs typeface="Times New Roman" panose="02020603050405020304" pitchFamily="18" charset="0"/>
                        </a:rPr>
                        <a:t>Ribeiro et al.</a:t>
                      </a:r>
                      <a:br>
                        <a:rPr lang="en-US" sz="980" b="0" i="0" dirty="0">
                          <a:solidFill>
                            <a:schemeClr val="tx1"/>
                          </a:solidFill>
                          <a:effectLst/>
                          <a:latin typeface="Times New Roman" panose="02020603050405020304" pitchFamily="18" charset="0"/>
                          <a:cs typeface="Times New Roman" panose="02020603050405020304" pitchFamily="18" charset="0"/>
                        </a:rPr>
                      </a:br>
                      <a:r>
                        <a:rPr lang="en-US" sz="980" b="0" i="1" dirty="0">
                          <a:solidFill>
                            <a:schemeClr val="tx1"/>
                          </a:solidFill>
                          <a:effectLst/>
                          <a:latin typeface="Times New Roman" panose="02020603050405020304" pitchFamily="18" charset="0"/>
                          <a:cs typeface="Times New Roman" panose="02020603050405020304" pitchFamily="18" charset="0"/>
                        </a:rPr>
                        <a:t>(LIME, KDD 2016)</a:t>
                      </a:r>
                      <a:br>
                        <a:rPr lang="en-US" sz="980" b="0" i="0" dirty="0">
                          <a:solidFill>
                            <a:schemeClr val="tx1"/>
                          </a:solidFill>
                          <a:effectLst/>
                          <a:latin typeface="Times New Roman" panose="02020603050405020304" pitchFamily="18" charset="0"/>
                          <a:cs typeface="Times New Roman" panose="02020603050405020304" pitchFamily="18" charset="0"/>
                        </a:rPr>
                      </a:br>
                      <a:endParaRPr lang="en-US" sz="980" b="0" i="0" dirty="0">
                        <a:solidFill>
                          <a:schemeClr val="tx1"/>
                        </a:solidFill>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0" i="0">
                          <a:solidFill>
                            <a:schemeClr val="tx1"/>
                          </a:solidFill>
                          <a:effectLst/>
                          <a:latin typeface="Times New Roman" panose="02020603050405020304" pitchFamily="18" charset="0"/>
                          <a:cs typeface="Times New Roman" panose="02020603050405020304" pitchFamily="18" charset="0"/>
                        </a:rPr>
                        <a:t>Explain predictions of complex black-box machine learning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0" i="0">
                          <a:solidFill>
                            <a:schemeClr val="tx1"/>
                          </a:solidFill>
                          <a:effectLst/>
                          <a:latin typeface="Times New Roman" panose="02020603050405020304" pitchFamily="18" charset="0"/>
                          <a:cs typeface="Times New Roman" panose="02020603050405020304" pitchFamily="18" charset="0"/>
                        </a:rPr>
                        <a:t>Formulated Local Interpretable Model-agnostic Explanations (LIME) via local linear surrogates.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1" i="0">
                          <a:solidFill>
                            <a:schemeClr val="tx1"/>
                          </a:solidFill>
                          <a:effectLst/>
                          <a:latin typeface="Times New Roman" panose="02020603050405020304" pitchFamily="18" charset="0"/>
                          <a:cs typeface="Times New Roman" panose="02020603050405020304" pitchFamily="18" charset="0"/>
                        </a:rPr>
                        <a:t>Pros</a:t>
                      </a:r>
                      <a:r>
                        <a:rPr lang="en-US" sz="980" b="0" i="0">
                          <a:solidFill>
                            <a:schemeClr val="tx1"/>
                          </a:solidFill>
                          <a:effectLst/>
                          <a:latin typeface="Times New Roman" panose="02020603050405020304" pitchFamily="18" charset="0"/>
                          <a:cs typeface="Times New Roman" panose="02020603050405020304" pitchFamily="18" charset="0"/>
                        </a:rPr>
                        <a:t>: Gold standard for local explainability.</a:t>
                      </a:r>
                      <a:br>
                        <a:rPr lang="en-US" sz="980" b="0" i="0">
                          <a:solidFill>
                            <a:schemeClr val="tx1"/>
                          </a:solidFill>
                          <a:effectLst/>
                          <a:latin typeface="Times New Roman" panose="02020603050405020304" pitchFamily="18" charset="0"/>
                          <a:cs typeface="Times New Roman" panose="02020603050405020304" pitchFamily="18" charset="0"/>
                        </a:rPr>
                      </a:br>
                      <a:r>
                        <a:rPr lang="en-US" sz="980" b="1" i="0">
                          <a:solidFill>
                            <a:schemeClr val="tx1"/>
                          </a:solidFill>
                          <a:effectLst/>
                          <a:latin typeface="Times New Roman" panose="02020603050405020304" pitchFamily="18" charset="0"/>
                          <a:cs typeface="Times New Roman" panose="02020603050405020304" pitchFamily="18" charset="0"/>
                        </a:rPr>
                        <a:t>Cons</a:t>
                      </a:r>
                      <a:r>
                        <a:rPr lang="en-US" sz="980" b="0" i="0">
                          <a:solidFill>
                            <a:schemeClr val="tx1"/>
                          </a:solidFill>
                          <a:effectLst/>
                          <a:latin typeface="Times New Roman" panose="02020603050405020304" pitchFamily="18" charset="0"/>
                          <a:cs typeface="Times New Roman" panose="02020603050405020304" pitchFamily="18" charset="0"/>
                        </a:rPr>
                        <a:t>: Designed for generic classification; not tailored for token-level text generation.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0" i="0">
                          <a:solidFill>
                            <a:schemeClr val="tx1"/>
                          </a:solidFill>
                          <a:effectLst/>
                          <a:latin typeface="Times New Roman" panose="02020603050405020304" pitchFamily="18" charset="0"/>
                          <a:cs typeface="Times New Roman" panose="02020603050405020304" pitchFamily="18" charset="0"/>
                        </a:rPr>
                        <a:t>Providing interpretable feature attributions significantly increases user trust in automated model decisions.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6035620"/>
                  </a:ext>
                </a:extLst>
              </a:tr>
              <a:tr h="0">
                <a:tc>
                  <a:txBody>
                    <a:bodyPr/>
                    <a:lstStyle/>
                    <a:p>
                      <a:pPr indent="0" algn="l">
                        <a:buNone/>
                      </a:pPr>
                      <a:r>
                        <a:rPr lang="en-US" sz="980" b="1" i="0" dirty="0">
                          <a:solidFill>
                            <a:schemeClr val="tx1"/>
                          </a:solidFill>
                          <a:effectLst/>
                          <a:latin typeface="Times New Roman" panose="02020603050405020304" pitchFamily="18" charset="0"/>
                          <a:cs typeface="Times New Roman" panose="02020603050405020304" pitchFamily="18" charset="0"/>
                        </a:rPr>
                        <a:t>Sravani &amp; Mamidi</a:t>
                      </a:r>
                      <a:br>
                        <a:rPr lang="en-US" sz="980" b="0" i="0" dirty="0">
                          <a:solidFill>
                            <a:schemeClr val="tx1"/>
                          </a:solidFill>
                          <a:effectLst/>
                          <a:latin typeface="Times New Roman" panose="02020603050405020304" pitchFamily="18" charset="0"/>
                          <a:cs typeface="Times New Roman" panose="02020603050405020304" pitchFamily="18" charset="0"/>
                        </a:rPr>
                      </a:br>
                      <a:r>
                        <a:rPr lang="en-US" sz="980" b="0" i="1" dirty="0">
                          <a:solidFill>
                            <a:schemeClr val="tx1"/>
                          </a:solidFill>
                          <a:effectLst/>
                          <a:latin typeface="Times New Roman" panose="02020603050405020304" pitchFamily="18" charset="0"/>
                          <a:cs typeface="Times New Roman" panose="02020603050405020304" pitchFamily="18" charset="0"/>
                        </a:rPr>
                        <a:t>(</a:t>
                      </a:r>
                      <a:r>
                        <a:rPr lang="en-US" sz="980" b="0" i="1" dirty="0" err="1">
                          <a:solidFill>
                            <a:schemeClr val="tx1"/>
                          </a:solidFill>
                          <a:effectLst/>
                          <a:latin typeface="Times New Roman" panose="02020603050405020304" pitchFamily="18" charset="0"/>
                          <a:cs typeface="Times New Roman" panose="02020603050405020304" pitchFamily="18" charset="0"/>
                        </a:rPr>
                        <a:t>CoNLL</a:t>
                      </a:r>
                      <a:r>
                        <a:rPr lang="en-US" sz="980" b="0" i="1" dirty="0">
                          <a:solidFill>
                            <a:schemeClr val="tx1"/>
                          </a:solidFill>
                          <a:effectLst/>
                          <a:latin typeface="Times New Roman" panose="02020603050405020304" pitchFamily="18" charset="0"/>
                          <a:cs typeface="Times New Roman" panose="02020603050405020304" pitchFamily="18" charset="0"/>
                        </a:rPr>
                        <a:t> 2023)</a:t>
                      </a:r>
                      <a:br>
                        <a:rPr lang="en-US" sz="980" b="0" i="0" dirty="0">
                          <a:solidFill>
                            <a:schemeClr val="tx1"/>
                          </a:solidFill>
                          <a:effectLst/>
                          <a:latin typeface="Times New Roman" panose="02020603050405020304" pitchFamily="18" charset="0"/>
                          <a:cs typeface="Times New Roman" panose="02020603050405020304" pitchFamily="18" charset="0"/>
                        </a:rPr>
                      </a:br>
                      <a:endParaRPr lang="en-US" sz="980" b="0" i="0" dirty="0">
                        <a:solidFill>
                          <a:schemeClr val="tx1"/>
                        </a:solidFill>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0" i="0">
                          <a:solidFill>
                            <a:schemeClr val="tx1"/>
                          </a:solidFill>
                          <a:effectLst/>
                          <a:latin typeface="Times New Roman" panose="02020603050405020304" pitchFamily="18" charset="0"/>
                          <a:cs typeface="Times New Roman" panose="02020603050405020304" pitchFamily="18" charset="0"/>
                        </a:rPr>
                        <a:t>Generate synthetic code-mixed text to augment scarce training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0" i="0">
                          <a:solidFill>
                            <a:schemeClr val="tx1"/>
                          </a:solidFill>
                          <a:effectLst/>
                          <a:latin typeface="Times New Roman" panose="02020603050405020304" pitchFamily="18" charset="0"/>
                          <a:cs typeface="Times New Roman" panose="02020603050405020304" pitchFamily="18" charset="0"/>
                        </a:rPr>
                        <a:t>Combined LLM text prompting with mT5 back-translation and synthetic filtering.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1" i="0">
                          <a:solidFill>
                            <a:schemeClr val="tx1"/>
                          </a:solidFill>
                          <a:effectLst/>
                          <a:latin typeface="Times New Roman" panose="02020603050405020304" pitchFamily="18" charset="0"/>
                          <a:cs typeface="Times New Roman" panose="02020603050405020304" pitchFamily="18" charset="0"/>
                        </a:rPr>
                        <a:t>Pros</a:t>
                      </a:r>
                      <a:r>
                        <a:rPr lang="en-US" sz="980" b="0" i="0">
                          <a:solidFill>
                            <a:schemeClr val="tx1"/>
                          </a:solidFill>
                          <a:effectLst/>
                          <a:latin typeface="Times New Roman" panose="02020603050405020304" pitchFamily="18" charset="0"/>
                          <a:cs typeface="Times New Roman" panose="02020603050405020304" pitchFamily="18" charset="0"/>
                        </a:rPr>
                        <a:t>: High volume synthetic data.</a:t>
                      </a:r>
                      <a:br>
                        <a:rPr lang="en-US" sz="980" b="0" i="0">
                          <a:solidFill>
                            <a:schemeClr val="tx1"/>
                          </a:solidFill>
                          <a:effectLst/>
                          <a:latin typeface="Times New Roman" panose="02020603050405020304" pitchFamily="18" charset="0"/>
                          <a:cs typeface="Times New Roman" panose="02020603050405020304" pitchFamily="18" charset="0"/>
                        </a:rPr>
                      </a:br>
                      <a:r>
                        <a:rPr lang="en-US" sz="980" b="1" i="0">
                          <a:solidFill>
                            <a:schemeClr val="tx1"/>
                          </a:solidFill>
                          <a:effectLst/>
                          <a:latin typeface="Times New Roman" panose="02020603050405020304" pitchFamily="18" charset="0"/>
                          <a:cs typeface="Times New Roman" panose="02020603050405020304" pitchFamily="18" charset="0"/>
                        </a:rPr>
                        <a:t>Cons</a:t>
                      </a:r>
                      <a:r>
                        <a:rPr lang="en-US" sz="980" b="0" i="0">
                          <a:solidFill>
                            <a:schemeClr val="tx1"/>
                          </a:solidFill>
                          <a:effectLst/>
                          <a:latin typeface="Times New Roman" panose="02020603050405020304" pitchFamily="18" charset="0"/>
                          <a:cs typeface="Times New Roman" panose="02020603050405020304" pitchFamily="18" charset="0"/>
                        </a:rPr>
                        <a:t>: Post-hoc sentence filtering fails to catch individual word-level over-translations.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l">
                        <a:buNone/>
                      </a:pPr>
                      <a:r>
                        <a:rPr lang="en-US" sz="980" b="0" i="0" dirty="0">
                          <a:solidFill>
                            <a:schemeClr val="tx1"/>
                          </a:solidFill>
                          <a:effectLst/>
                          <a:latin typeface="Times New Roman" panose="02020603050405020304" pitchFamily="18" charset="0"/>
                          <a:cs typeface="Times New Roman" panose="02020603050405020304" pitchFamily="18" charset="0"/>
                        </a:rPr>
                        <a:t>Synthetic code-mixing requires fine-grained token-level validation rather than sentence-level heuristic filters.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0267569"/>
                  </a:ext>
                </a:extLst>
              </a:tr>
            </a:tbl>
          </a:graphicData>
        </a:graphic>
      </p:graphicFrame>
    </p:spTree>
    <p:extLst>
      <p:ext uri="{BB962C8B-B14F-4D97-AF65-F5344CB8AC3E}">
        <p14:creationId xmlns:p14="http://schemas.microsoft.com/office/powerpoint/2010/main" val="857449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F8AC8-6380-9217-CA4C-1FBF1C25C60E}"/>
              </a:ext>
            </a:extLst>
          </p:cNvPr>
          <p:cNvSpPr>
            <a:spLocks noGrp="1"/>
          </p:cNvSpPr>
          <p:nvPr>
            <p:ph idx="1"/>
          </p:nvPr>
        </p:nvSpPr>
        <p:spPr>
          <a:xfrm>
            <a:off x="838200" y="1579135"/>
            <a:ext cx="10515600" cy="4351338"/>
          </a:xfrm>
        </p:spPr>
        <p:txBody>
          <a:bodyPr>
            <a:normAutofit lnSpcReduction="10000"/>
          </a:bodyPr>
          <a:lstStyle/>
          <a:p>
            <a:pPr marL="0" indent="0" algn="just">
              <a:buNone/>
            </a:pPr>
            <a:r>
              <a:rPr lang="en-US" sz="1600" dirty="0">
                <a:latin typeface="Times New Roman" panose="02020603050405020304" pitchFamily="18" charset="0"/>
                <a:cs typeface="Times New Roman" panose="02020603050405020304" pitchFamily="18" charset="0"/>
              </a:rPr>
              <a:t>1. Over-Translation &amp; Loss of Pragmatics:</a:t>
            </a:r>
          </a:p>
          <a:p>
            <a:pPr marL="0" indent="0" algn="just">
              <a:buNone/>
            </a:pPr>
            <a:r>
              <a:rPr lang="en-US" sz="1600" dirty="0">
                <a:latin typeface="Times New Roman" panose="02020603050405020304" pitchFamily="18" charset="0"/>
                <a:cs typeface="Times New Roman" panose="02020603050405020304" pitchFamily="18" charset="0"/>
              </a:rPr>
              <a:t>   Existing NMT and multilingual LLM systems forcefully translate naturally borrowed words (e.g., meeting, client), producing unnatural, hard-to-read rewrites.</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2. Absence of Pre-Generation Token Preservation Layer:</a:t>
            </a:r>
          </a:p>
          <a:p>
            <a:pPr marL="0" indent="0" algn="just">
              <a:buNone/>
            </a:pPr>
            <a:r>
              <a:rPr lang="en-US" sz="1600" dirty="0">
                <a:latin typeface="Times New Roman" panose="02020603050405020304" pitchFamily="18" charset="0"/>
                <a:cs typeface="Times New Roman" panose="02020603050405020304" pitchFamily="18" charset="0"/>
              </a:rPr>
              <a:t>   Current architectures rely solely on post-hoc prompt engineering rather than an explicit, token-level preservation decision layer before text generation.</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3. Lack of Explainability (XAI):</a:t>
            </a:r>
          </a:p>
          <a:p>
            <a:pPr marL="0" indent="0" algn="just">
              <a:buNone/>
            </a:pPr>
            <a:r>
              <a:rPr lang="en-US" sz="1600" dirty="0">
                <a:latin typeface="Times New Roman" panose="02020603050405020304" pitchFamily="18" charset="0"/>
                <a:cs typeface="Times New Roman" panose="02020603050405020304" pitchFamily="18" charset="0"/>
              </a:rPr>
              <a:t>   End-to-end LLMs generate rewrites as black-box systems, providing no linguistic justification for why words were preserved or translated.</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4. Inability of Static Rules to Adapt Across Domains:</a:t>
            </a:r>
          </a:p>
          <a:p>
            <a:pPr marL="0" indent="0" algn="just">
              <a:buNone/>
            </a:pPr>
            <a:r>
              <a:rPr lang="en-US" sz="1600" dirty="0">
                <a:latin typeface="Times New Roman" panose="02020603050405020304" pitchFamily="18" charset="0"/>
                <a:cs typeface="Times New Roman" panose="02020603050405020304" pitchFamily="18" charset="0"/>
              </a:rPr>
              <a:t>   Static heuristic rules fail to dynamically adjust preservation sensitivity across different communication registers (Business vs. Academic vs. Social Media).</a:t>
            </a:r>
          </a:p>
        </p:txBody>
      </p:sp>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838200"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Research Gap</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a:lstStyle/>
          <a:p>
            <a:fld id="{49AE986A-8308-4C4E-A0F3-DDD9B5B25762}" type="datetime1">
              <a:rPr lang="en-IN" smtClean="0"/>
              <a:t>21-07-2026</a:t>
            </a:fld>
            <a:endParaRPr lang="en-IN"/>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a:lstStyle/>
          <a:p>
            <a:fld id="{65201FD4-9D8D-4491-815B-63C7BF4F0034}" type="slidenum">
              <a:rPr lang="en-IN" smtClean="0"/>
              <a:t>5</a:t>
            </a:fld>
            <a:endParaRPr lang="en-IN"/>
          </a:p>
        </p:txBody>
      </p:sp>
    </p:spTree>
    <p:extLst>
      <p:ext uri="{BB962C8B-B14F-4D97-AF65-F5344CB8AC3E}">
        <p14:creationId xmlns:p14="http://schemas.microsoft.com/office/powerpoint/2010/main" val="2623102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0AAC-0156-D6F5-7153-C79199994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3ADE1-559A-2DC2-A801-6A915E106C60}"/>
              </a:ext>
            </a:extLst>
          </p:cNvPr>
          <p:cNvSpPr>
            <a:spLocks noGrp="1"/>
          </p:cNvSpPr>
          <p:nvPr>
            <p:ph idx="1"/>
          </p:nvPr>
        </p:nvSpPr>
        <p:spPr>
          <a:xfrm>
            <a:off x="838200" y="1098640"/>
            <a:ext cx="10515600" cy="1797628"/>
          </a:xfrm>
        </p:spPr>
        <p:txBody>
          <a:bodyPr>
            <a:normAutofit/>
          </a:bodyPr>
          <a:lstStyle/>
          <a:p>
            <a:pPr marL="0" indent="0" algn="just">
              <a:buNone/>
            </a:pPr>
            <a:r>
              <a:rPr lang="en-IN" sz="1600" dirty="0">
                <a:latin typeface="Times New Roman" panose="02020603050405020304" pitchFamily="18" charset="0"/>
                <a:cs typeface="Times New Roman" panose="02020603050405020304" pitchFamily="18" charset="0"/>
              </a:rPr>
              <a:t>1. Construct a code-mixed tokenization, language identification, and linguistic feature extraction pipeline.</a:t>
            </a:r>
          </a:p>
          <a:p>
            <a:pPr marL="0" indent="0" algn="just">
              <a:buNone/>
            </a:pPr>
            <a:r>
              <a:rPr lang="en-IN" sz="1600" dirty="0">
                <a:latin typeface="Times New Roman" panose="02020603050405020304" pitchFamily="18" charset="0"/>
                <a:cs typeface="Times New Roman" panose="02020603050405020304" pitchFamily="18" charset="0"/>
              </a:rPr>
              <a:t>2. Formulate an Information-Theoretic and Graph-Constrained Token Preservation Scoring Engine (LAPS).</a:t>
            </a:r>
          </a:p>
          <a:p>
            <a:pPr marL="0" indent="0" algn="just">
              <a:buNone/>
            </a:pPr>
            <a:r>
              <a:rPr lang="en-IN" sz="1600" dirty="0">
                <a:latin typeface="Times New Roman" panose="02020603050405020304" pitchFamily="18" charset="0"/>
                <a:cs typeface="Times New Roman" panose="02020603050405020304" pitchFamily="18" charset="0"/>
              </a:rPr>
              <a:t>3. Develop an Adaptive Threshold Engine to regulate preservation sensitivity dynamically by domain register.</a:t>
            </a:r>
          </a:p>
          <a:p>
            <a:pPr marL="0" indent="0" algn="just">
              <a:buNone/>
            </a:pPr>
            <a:r>
              <a:rPr lang="en-IN" sz="1600" dirty="0">
                <a:latin typeface="Times New Roman" panose="02020603050405020304" pitchFamily="18" charset="0"/>
                <a:cs typeface="Times New Roman" panose="02020603050405020304" pitchFamily="18" charset="0"/>
              </a:rPr>
              <a:t>4. Integrate LAPS with LLM rewriters (GPT-4/Llama/Qwen) and implement an XAI Explanation Module.</a:t>
            </a:r>
          </a:p>
          <a:p>
            <a:pPr marL="0" indent="0" algn="just">
              <a:buNone/>
            </a:pPr>
            <a:r>
              <a:rPr lang="en-IN" sz="1600" dirty="0">
                <a:latin typeface="Times New Roman" panose="02020603050405020304" pitchFamily="18" charset="0"/>
                <a:cs typeface="Times New Roman" panose="02020603050405020304" pitchFamily="18" charset="0"/>
              </a:rPr>
              <a:t>5. Conduct comprehensive empirical evaluation using BLEU, COMET, </a:t>
            </a:r>
            <a:r>
              <a:rPr lang="en-IN" sz="1600" dirty="0" err="1">
                <a:latin typeface="Times New Roman" panose="02020603050405020304" pitchFamily="18" charset="0"/>
                <a:cs typeface="Times New Roman" panose="02020603050405020304" pitchFamily="18" charset="0"/>
              </a:rPr>
              <a:t>BERTScore</a:t>
            </a:r>
            <a:r>
              <a:rPr lang="en-IN" sz="1600" dirty="0">
                <a:latin typeface="Times New Roman" panose="02020603050405020304" pitchFamily="18" charset="0"/>
                <a:cs typeface="Times New Roman" panose="02020603050405020304" pitchFamily="18" charset="0"/>
              </a:rPr>
              <a:t>, and human user studies.</a:t>
            </a:r>
          </a:p>
          <a:p>
            <a:pPr marL="0" indent="0" algn="just">
              <a:buNone/>
            </a:pPr>
            <a:endParaRPr lang="en-IN" sz="16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22BADD22-870A-4D8F-B788-CCCD5C223F9A}"/>
              </a:ext>
            </a:extLst>
          </p:cNvPr>
          <p:cNvSpPr txBox="1">
            <a:spLocks noGrp="1"/>
          </p:cNvSpPr>
          <p:nvPr>
            <p:ph type="title"/>
          </p:nvPr>
        </p:nvSpPr>
        <p:spPr>
          <a:xfrm>
            <a:off x="838200" y="270461"/>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Objectives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1BE4F0EB-E8F1-14D8-E22A-38E83F9BFA9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21-07-2026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6D8B93F-BA73-08B5-E0DD-D434FA25B92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E6BABF72-E9F9-626A-63CD-EA20C0714ABC}"/>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6</a:t>
            </a:fld>
            <a:endParaRPr lang="en-IN" dirty="0">
              <a:latin typeface="Times New Roman" panose="02020603050405020304" pitchFamily="18" charset="0"/>
              <a:cs typeface="Times New Roman" panose="02020603050405020304" pitchFamily="18" charset="0"/>
            </a:endParaRPr>
          </a:p>
        </p:txBody>
      </p:sp>
      <p:sp>
        <p:nvSpPr>
          <p:cNvPr id="10" name="object 2">
            <a:extLst>
              <a:ext uri="{FF2B5EF4-FFF2-40B4-BE49-F238E27FC236}">
                <a16:creationId xmlns:a16="http://schemas.microsoft.com/office/drawing/2014/main" id="{673FE06F-0A31-C51B-9DE7-9CF318DB8C07}"/>
              </a:ext>
            </a:extLst>
          </p:cNvPr>
          <p:cNvSpPr txBox="1">
            <a:spLocks/>
          </p:cNvSpPr>
          <p:nvPr/>
        </p:nvSpPr>
        <p:spPr>
          <a:xfrm>
            <a:off x="838199" y="2981559"/>
            <a:ext cx="10515599" cy="576696"/>
          </a:xfrm>
          <a:prstGeom prst="rect">
            <a:avLst/>
          </a:prstGeom>
        </p:spPr>
        <p:txBody>
          <a:bodyPr vert="horz" wrap="square" lIns="0" tIns="113919"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86409" algn="just">
              <a:lnSpc>
                <a:spcPct val="100000"/>
              </a:lnSpc>
              <a:spcBef>
                <a:spcPts val="130"/>
              </a:spcBef>
            </a:pPr>
            <a:r>
              <a:rPr lang="en-IN" sz="3000" b="1" dirty="0">
                <a:latin typeface="Times New Roman" panose="02020603050405020304" pitchFamily="18" charset="0"/>
                <a:cs typeface="Times New Roman" panose="02020603050405020304" pitchFamily="18" charset="0"/>
              </a:rPr>
              <a:t>SDGs &amp; Outcomes</a:t>
            </a:r>
          </a:p>
        </p:txBody>
      </p:sp>
      <p:sp>
        <p:nvSpPr>
          <p:cNvPr id="11" name="Content Placeholder 2">
            <a:extLst>
              <a:ext uri="{FF2B5EF4-FFF2-40B4-BE49-F238E27FC236}">
                <a16:creationId xmlns:a16="http://schemas.microsoft.com/office/drawing/2014/main" id="{E38011AC-A0EB-45DE-C6DA-4B20189A4260}"/>
              </a:ext>
            </a:extLst>
          </p:cNvPr>
          <p:cNvSpPr txBox="1">
            <a:spLocks/>
          </p:cNvSpPr>
          <p:nvPr/>
        </p:nvSpPr>
        <p:spPr>
          <a:xfrm>
            <a:off x="838199" y="3792122"/>
            <a:ext cx="10515599" cy="179762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IN" sz="1600" dirty="0">
                <a:latin typeface="Times New Roman" panose="02020603050405020304" pitchFamily="18" charset="0"/>
                <a:cs typeface="Times New Roman" panose="02020603050405020304" pitchFamily="18" charset="0"/>
              </a:rPr>
              <a:t>• SDG 4 (Quality Education): Enhances multilingual digital literacy &amp; accessible learning tools.</a:t>
            </a:r>
          </a:p>
          <a:p>
            <a:pPr marL="0" indent="0" algn="just">
              <a:buFont typeface="Arial" panose="020B0604020202020204" pitchFamily="34" charset="0"/>
              <a:buNone/>
            </a:pPr>
            <a:r>
              <a:rPr lang="en-IN" sz="1600" dirty="0">
                <a:latin typeface="Times New Roman" panose="02020603050405020304" pitchFamily="18" charset="0"/>
                <a:cs typeface="Times New Roman" panose="02020603050405020304" pitchFamily="18" charset="0"/>
              </a:rPr>
              <a:t>• SDG 9 (Industry, Innovation &amp; Infrastructure): Fosters trustworthy, explainable AI systems.</a:t>
            </a:r>
          </a:p>
          <a:p>
            <a:pPr marL="0" indent="0" algn="just">
              <a:buFont typeface="Arial" panose="020B0604020202020204" pitchFamily="34" charset="0"/>
              <a:buNone/>
            </a:pPr>
            <a:r>
              <a:rPr lang="en-IN" sz="1600" dirty="0">
                <a:latin typeface="Times New Roman" panose="02020603050405020304" pitchFamily="18" charset="0"/>
                <a:cs typeface="Times New Roman" panose="02020603050405020304" pitchFamily="18" charset="0"/>
              </a:rPr>
              <a:t>• SDG 10 (Reduced Inequalities): Bridges linguistic barriers for code-mixed native speakers.</a:t>
            </a:r>
          </a:p>
          <a:p>
            <a:pPr marL="0" indent="0" algn="just">
              <a:buFont typeface="Arial" panose="020B0604020202020204" pitchFamily="34" charset="0"/>
              <a:buNone/>
            </a:pPr>
            <a:endParaRPr lang="en-IN" sz="1600"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r>
              <a:rPr lang="en-IN" sz="1600" dirty="0">
                <a:latin typeface="Times New Roman" panose="02020603050405020304" pitchFamily="18" charset="0"/>
                <a:cs typeface="Times New Roman" panose="02020603050405020304" pitchFamily="18" charset="0"/>
              </a:rPr>
              <a:t>• Research Paper: IEEE / Scopus-indexed Conference (IEEE ICCAI / IEEE ICNLP).</a:t>
            </a:r>
          </a:p>
          <a:p>
            <a:pPr marL="0" indent="0" algn="just">
              <a:buFont typeface="Arial" panose="020B0604020202020204" pitchFamily="34" charset="0"/>
              <a:buNone/>
            </a:pPr>
            <a:r>
              <a:rPr lang="en-IN" sz="1600" dirty="0">
                <a:latin typeface="Times New Roman" panose="02020603050405020304" pitchFamily="18" charset="0"/>
                <a:cs typeface="Times New Roman" panose="02020603050405020304" pitchFamily="18" charset="0"/>
              </a:rPr>
              <a:t>• Patent Application: Provisional Patent Application (Computer-Implemented Token Preservation Framework).</a:t>
            </a:r>
          </a:p>
          <a:p>
            <a:pPr marL="0" indent="0" algn="just">
              <a:buFont typeface="Arial" panose="020B0604020202020204" pitchFamily="34" charset="0"/>
              <a:buNone/>
            </a:pPr>
            <a:r>
              <a:rPr lang="en-IN" sz="1600" dirty="0">
                <a:latin typeface="Times New Roman" panose="02020603050405020304" pitchFamily="18" charset="0"/>
                <a:cs typeface="Times New Roman" panose="02020603050405020304" pitchFamily="18" charset="0"/>
              </a:rPr>
              <a:t>• Prototype: Working Web Application (</a:t>
            </a:r>
            <a:r>
              <a:rPr lang="en-IN" sz="1600" dirty="0" err="1">
                <a:latin typeface="Times New Roman" panose="02020603050405020304" pitchFamily="18" charset="0"/>
                <a:cs typeface="Times New Roman" panose="02020603050405020304" pitchFamily="18" charset="0"/>
              </a:rPr>
              <a:t>FastAPI</a:t>
            </a:r>
            <a:r>
              <a:rPr lang="en-IN" sz="1600" dirty="0">
                <a:latin typeface="Times New Roman" panose="02020603050405020304" pitchFamily="18" charset="0"/>
                <a:cs typeface="Times New Roman" panose="02020603050405020304" pitchFamily="18" charset="0"/>
              </a:rPr>
              <a:t> + </a:t>
            </a:r>
            <a:r>
              <a:rPr lang="en-IN" sz="1600" dirty="0" err="1">
                <a:latin typeface="Times New Roman" panose="02020603050405020304" pitchFamily="18" charset="0"/>
                <a:cs typeface="Times New Roman" panose="02020603050405020304" pitchFamily="18" charset="0"/>
              </a:rPr>
              <a:t>Streamlit</a:t>
            </a:r>
            <a:r>
              <a:rPr lang="en-IN" sz="1600" dirty="0">
                <a:latin typeface="Times New Roman" panose="02020603050405020304" pitchFamily="18" charset="0"/>
                <a:cs typeface="Times New Roman" panose="02020603050405020304" pitchFamily="18" charset="0"/>
              </a:rPr>
              <a:t>) (best stack to be decided).</a:t>
            </a:r>
          </a:p>
        </p:txBody>
      </p:sp>
    </p:spTree>
    <p:extLst>
      <p:ext uri="{BB962C8B-B14F-4D97-AF65-F5344CB8AC3E}">
        <p14:creationId xmlns:p14="http://schemas.microsoft.com/office/powerpoint/2010/main" val="2335962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CFC0C65-61CC-E657-43F7-99C8E5362448}"/>
              </a:ext>
            </a:extLst>
          </p:cNvPr>
          <p:cNvSpPr txBox="1">
            <a:spLocks noGrp="1"/>
          </p:cNvSpPr>
          <p:nvPr>
            <p:ph type="title"/>
          </p:nvPr>
        </p:nvSpPr>
        <p:spPr>
          <a:xfrm>
            <a:off x="838200"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References</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C4F09CD-956A-B8B3-1183-9C28C80DDB9A}"/>
              </a:ext>
            </a:extLst>
          </p:cNvPr>
          <p:cNvSpPr>
            <a:spLocks noGrp="1" noChangeArrowheads="1"/>
          </p:cNvSpPr>
          <p:nvPr>
            <p:ph idx="1"/>
          </p:nvPr>
        </p:nvSpPr>
        <p:spPr bwMode="auto">
          <a:xfrm>
            <a:off x="838200" y="1584148"/>
            <a:ext cx="10515600"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IN" sz="1600" dirty="0">
                <a:latin typeface="Times New Roman" panose="02020603050405020304" pitchFamily="18" charset="0"/>
                <a:cs typeface="Times New Roman" panose="02020603050405020304" pitchFamily="18" charset="0"/>
              </a:rPr>
              <a:t>[1] G. Aguilar, S. Kar, and T. Solorio, "</a:t>
            </a:r>
            <a:r>
              <a:rPr lang="en-IN" sz="1600" dirty="0" err="1">
                <a:latin typeface="Times New Roman" panose="02020603050405020304" pitchFamily="18" charset="0"/>
                <a:cs typeface="Times New Roman" panose="02020603050405020304" pitchFamily="18" charset="0"/>
              </a:rPr>
              <a:t>LinCE</a:t>
            </a:r>
            <a:r>
              <a:rPr lang="en-IN" sz="1600" dirty="0">
                <a:latin typeface="Times New Roman" panose="02020603050405020304" pitchFamily="18" charset="0"/>
                <a:cs typeface="Times New Roman" panose="02020603050405020304" pitchFamily="18" charset="0"/>
              </a:rPr>
              <a:t>: A Centralized Benchmark for Linguistic Code-switching Evaluation," in Proc. LREC, 2020, pp. 1803–1813.</a:t>
            </a:r>
          </a:p>
          <a:p>
            <a:pPr marL="0" indent="0" eaLnBrk="0" fontAlgn="base" hangingPunct="0">
              <a:lnSpc>
                <a:spcPct val="100000"/>
              </a:lnSpc>
              <a:spcBef>
                <a:spcPct val="0"/>
              </a:spcBef>
              <a:spcAft>
                <a:spcPct val="0"/>
              </a:spcAft>
              <a:buNone/>
            </a:pPr>
            <a:r>
              <a:rPr lang="en-IN" sz="1600" dirty="0">
                <a:latin typeface="Times New Roman" panose="02020603050405020304" pitchFamily="18" charset="0"/>
                <a:cs typeface="Times New Roman" panose="02020603050405020304" pitchFamily="18" charset="0"/>
              </a:rPr>
              <a:t>[2] S. Khanuja et al., "</a:t>
            </a:r>
            <a:r>
              <a:rPr lang="en-IN" sz="1600" dirty="0" err="1">
                <a:latin typeface="Times New Roman" panose="02020603050405020304" pitchFamily="18" charset="0"/>
                <a:cs typeface="Times New Roman" panose="02020603050405020304" pitchFamily="18" charset="0"/>
              </a:rPr>
              <a:t>GLUECoS</a:t>
            </a:r>
            <a:r>
              <a:rPr lang="en-IN" sz="1600" dirty="0">
                <a:latin typeface="Times New Roman" panose="02020603050405020304" pitchFamily="18" charset="0"/>
                <a:cs typeface="Times New Roman" panose="02020603050405020304" pitchFamily="18" charset="0"/>
              </a:rPr>
              <a:t>: An Evaluation Benchmark for Code-Switched NLP," in Proc. ACL, 2020, pp. 3575–3585.</a:t>
            </a:r>
          </a:p>
          <a:p>
            <a:pPr marL="0" indent="0" eaLnBrk="0" fontAlgn="base" hangingPunct="0">
              <a:lnSpc>
                <a:spcPct val="100000"/>
              </a:lnSpc>
              <a:spcBef>
                <a:spcPct val="0"/>
              </a:spcBef>
              <a:spcAft>
                <a:spcPct val="0"/>
              </a:spcAft>
              <a:buNone/>
            </a:pPr>
            <a:r>
              <a:rPr lang="en-IN" sz="1600" dirty="0">
                <a:latin typeface="Times New Roman" panose="02020603050405020304" pitchFamily="18" charset="0"/>
                <a:cs typeface="Times New Roman" panose="02020603050405020304" pitchFamily="18" charset="0"/>
              </a:rPr>
              <a:t>[3] A. Pratapa et al., "Language </a:t>
            </a:r>
            <a:r>
              <a:rPr lang="en-IN" sz="1600" dirty="0" err="1">
                <a:latin typeface="Times New Roman" panose="02020603050405020304" pitchFamily="18" charset="0"/>
                <a:cs typeface="Times New Roman" panose="02020603050405020304" pitchFamily="18" charset="0"/>
              </a:rPr>
              <a:t>Modeling</a:t>
            </a:r>
            <a:r>
              <a:rPr lang="en-IN" sz="1600" dirty="0">
                <a:latin typeface="Times New Roman" panose="02020603050405020304" pitchFamily="18" charset="0"/>
                <a:cs typeface="Times New Roman" panose="02020603050405020304" pitchFamily="18" charset="0"/>
              </a:rPr>
              <a:t> for Code-Mixing: The Role of Linguistic Theory," in Proc. NAACL-HLT, 2018, pp. 1543–1553.</a:t>
            </a:r>
          </a:p>
          <a:p>
            <a:pPr marL="0" indent="0" eaLnBrk="0" fontAlgn="base" hangingPunct="0">
              <a:lnSpc>
                <a:spcPct val="100000"/>
              </a:lnSpc>
              <a:spcBef>
                <a:spcPct val="0"/>
              </a:spcBef>
              <a:spcAft>
                <a:spcPct val="0"/>
              </a:spcAft>
              <a:buNone/>
            </a:pPr>
            <a:r>
              <a:rPr lang="en-IN" sz="1600" dirty="0">
                <a:latin typeface="Times New Roman" panose="02020603050405020304" pitchFamily="18" charset="0"/>
                <a:cs typeface="Times New Roman" panose="02020603050405020304" pitchFamily="18" charset="0"/>
              </a:rPr>
              <a:t>[4] M. T. Ribeiro, S. Singh, and C. </a:t>
            </a:r>
            <a:r>
              <a:rPr lang="en-IN" sz="1600" dirty="0" err="1">
                <a:latin typeface="Times New Roman" panose="02020603050405020304" pitchFamily="18" charset="0"/>
                <a:cs typeface="Times New Roman" panose="02020603050405020304" pitchFamily="18" charset="0"/>
              </a:rPr>
              <a:t>Guestrin</a:t>
            </a:r>
            <a:r>
              <a:rPr lang="en-IN" sz="1600" dirty="0">
                <a:latin typeface="Times New Roman" panose="02020603050405020304" pitchFamily="18" charset="0"/>
                <a:cs typeface="Times New Roman" panose="02020603050405020304" pitchFamily="18" charset="0"/>
              </a:rPr>
              <a:t>, '"Why Should I Trust You?": Explaining the Predictions of Any Classifier,' in Proc. ACM SIGKDD, 2016, pp. 1135–1144.</a:t>
            </a:r>
          </a:p>
          <a:p>
            <a:pPr marL="0" indent="0" eaLnBrk="0" fontAlgn="base" hangingPunct="0">
              <a:lnSpc>
                <a:spcPct val="100000"/>
              </a:lnSpc>
              <a:spcBef>
                <a:spcPct val="0"/>
              </a:spcBef>
              <a:spcAft>
                <a:spcPct val="0"/>
              </a:spcAft>
              <a:buNone/>
            </a:pPr>
            <a:r>
              <a:rPr lang="en-IN" sz="1600" dirty="0">
                <a:latin typeface="Times New Roman" panose="02020603050405020304" pitchFamily="18" charset="0"/>
                <a:cs typeface="Times New Roman" panose="02020603050405020304" pitchFamily="18" charset="0"/>
              </a:rPr>
              <a:t>[5] A. Srivastava and R. Singh, "Hinglish Code-Mixed Text Processing and Machine Translation," in Proc. WNUT, 2020, pp. 55–64.</a:t>
            </a:r>
          </a:p>
          <a:p>
            <a:pPr marL="0" indent="0" eaLnBrk="0" fontAlgn="base" hangingPunct="0">
              <a:lnSpc>
                <a:spcPct val="100000"/>
              </a:lnSpc>
              <a:spcBef>
                <a:spcPct val="0"/>
              </a:spcBef>
              <a:spcAft>
                <a:spcPct val="0"/>
              </a:spcAft>
              <a:buNone/>
            </a:pPr>
            <a:r>
              <a:rPr lang="en-IN" sz="1600" dirty="0">
                <a:latin typeface="Times New Roman" panose="02020603050405020304" pitchFamily="18" charset="0"/>
                <a:cs typeface="Times New Roman" panose="02020603050405020304" pitchFamily="18" charset="0"/>
              </a:rPr>
              <a:t>[6] V. Sravani and R. Mamidi, "Enhancing Code-mixed Text Generation Using Synthetic Data Filtering," in Proc. </a:t>
            </a:r>
            <a:r>
              <a:rPr lang="en-IN" sz="1600" dirty="0" err="1">
                <a:latin typeface="Times New Roman" panose="02020603050405020304" pitchFamily="18" charset="0"/>
                <a:cs typeface="Times New Roman" panose="02020603050405020304" pitchFamily="18" charset="0"/>
              </a:rPr>
              <a:t>CoNLL</a:t>
            </a:r>
            <a:r>
              <a:rPr lang="en-IN" sz="1600" dirty="0">
                <a:latin typeface="Times New Roman" panose="02020603050405020304" pitchFamily="18" charset="0"/>
                <a:cs typeface="Times New Roman" panose="02020603050405020304" pitchFamily="18" charset="0"/>
              </a:rPr>
              <a:t>, 2023, pp. 112–122.</a:t>
            </a:r>
          </a:p>
          <a:p>
            <a:pPr marL="0" indent="0" eaLnBrk="0" fontAlgn="base" hangingPunct="0">
              <a:lnSpc>
                <a:spcPct val="100000"/>
              </a:lnSpc>
              <a:spcBef>
                <a:spcPct val="0"/>
              </a:spcBef>
              <a:spcAft>
                <a:spcPct val="0"/>
              </a:spcAft>
              <a:buNone/>
            </a:pPr>
            <a:r>
              <a:rPr lang="en-IN" sz="1600" dirty="0">
                <a:latin typeface="Times New Roman" panose="02020603050405020304" pitchFamily="18" charset="0"/>
                <a:cs typeface="Times New Roman" panose="02020603050405020304" pitchFamily="18" charset="0"/>
              </a:rPr>
              <a:t>[7] X. Lu et al., "</a:t>
            </a:r>
            <a:r>
              <a:rPr lang="en-IN" sz="1600" dirty="0" err="1">
                <a:latin typeface="Times New Roman" panose="02020603050405020304" pitchFamily="18" charset="0"/>
                <a:cs typeface="Times New Roman" panose="02020603050405020304" pitchFamily="18" charset="0"/>
              </a:rPr>
              <a:t>NeuroLogic</a:t>
            </a:r>
            <a:r>
              <a:rPr lang="en-IN" sz="1600" dirty="0">
                <a:latin typeface="Times New Roman" panose="02020603050405020304" pitchFamily="18" charset="0"/>
                <a:cs typeface="Times New Roman" panose="02020603050405020304" pitchFamily="18" charset="0"/>
              </a:rPr>
              <a:t> Decoding: Constrained Text Generation with Propositional Logic," in Proc. NAACL-HLT, 2021, pp. 780–799.</a:t>
            </a:r>
          </a:p>
          <a:p>
            <a:pPr marL="0" indent="0" eaLnBrk="0" fontAlgn="base" hangingPunct="0">
              <a:lnSpc>
                <a:spcPct val="100000"/>
              </a:lnSpc>
              <a:spcBef>
                <a:spcPct val="0"/>
              </a:spcBef>
              <a:spcAft>
                <a:spcPct val="0"/>
              </a:spcAft>
              <a:buNone/>
            </a:pPr>
            <a:r>
              <a:rPr lang="en-IN" sz="1600" dirty="0">
                <a:latin typeface="Times New Roman" panose="02020603050405020304" pitchFamily="18" charset="0"/>
                <a:cs typeface="Times New Roman" panose="02020603050405020304" pitchFamily="18" charset="0"/>
              </a:rPr>
              <a:t>[8] V. </a:t>
            </a:r>
            <a:r>
              <a:rPr lang="en-IN" sz="1600" dirty="0" err="1">
                <a:latin typeface="Times New Roman" panose="02020603050405020304" pitchFamily="18" charset="0"/>
                <a:cs typeface="Times New Roman" panose="02020603050405020304" pitchFamily="18" charset="0"/>
              </a:rPr>
              <a:t>Karpukhin</a:t>
            </a:r>
            <a:r>
              <a:rPr lang="en-IN" sz="1600" dirty="0">
                <a:latin typeface="Times New Roman" panose="02020603050405020304" pitchFamily="18" charset="0"/>
                <a:cs typeface="Times New Roman" panose="02020603050405020304" pitchFamily="18" charset="0"/>
              </a:rPr>
              <a:t> et al., "Mitigating Over-Translation in Multilingual LLMs via Cross-Lingual Entropy Constraints," in Proc. ACL, 2024, pp. 3401–3415.</a:t>
            </a:r>
          </a:p>
          <a:p>
            <a:pPr marL="0" indent="0" eaLnBrk="0" fontAlgn="base" hangingPunct="0">
              <a:lnSpc>
                <a:spcPct val="100000"/>
              </a:lnSpc>
              <a:spcBef>
                <a:spcPct val="0"/>
              </a:spcBef>
              <a:spcAft>
                <a:spcPct val="0"/>
              </a:spcAft>
              <a:buNone/>
            </a:pPr>
            <a:r>
              <a:rPr lang="en-IN" sz="1600" dirty="0">
                <a:latin typeface="Times New Roman" panose="02020603050405020304" pitchFamily="18" charset="0"/>
                <a:cs typeface="Times New Roman" panose="02020603050405020304" pitchFamily="18" charset="0"/>
              </a:rPr>
              <a:t>[9] G. Ramesh et al., "IndicTrans2: Towards High-Quality NMT for Indic Languages," </a:t>
            </a:r>
            <a:r>
              <a:rPr lang="en-IN" sz="1600" dirty="0" err="1">
                <a:latin typeface="Times New Roman" panose="02020603050405020304" pitchFamily="18" charset="0"/>
                <a:cs typeface="Times New Roman" panose="02020603050405020304" pitchFamily="18" charset="0"/>
              </a:rPr>
              <a:t>arXiv</a:t>
            </a:r>
            <a:r>
              <a:rPr lang="en-IN" sz="1600" dirty="0">
                <a:latin typeface="Times New Roman" panose="02020603050405020304" pitchFamily="18" charset="0"/>
                <a:cs typeface="Times New Roman" panose="02020603050405020304" pitchFamily="18" charset="0"/>
              </a:rPr>
              <a:t> preprint arXiv:2305.16307, 2023.</a:t>
            </a:r>
          </a:p>
        </p:txBody>
      </p:sp>
      <p:sp>
        <p:nvSpPr>
          <p:cNvPr id="5" name="Date Placeholder 4">
            <a:extLst>
              <a:ext uri="{FF2B5EF4-FFF2-40B4-BE49-F238E27FC236}">
                <a16:creationId xmlns:a16="http://schemas.microsoft.com/office/drawing/2014/main" id="{B732D3DB-7149-E1E5-D5F9-4FC93A788894}"/>
              </a:ext>
            </a:extLst>
          </p:cNvPr>
          <p:cNvSpPr>
            <a:spLocks noGrp="1"/>
          </p:cNvSpPr>
          <p:nvPr>
            <p:ph type="dt" sz="half" idx="10"/>
          </p:nvPr>
        </p:nvSpPr>
        <p:spPr/>
        <p:txBody>
          <a:bodyPr/>
          <a:lstStyle/>
          <a:p>
            <a:fld id="{0A7C7B6C-E68D-4047-8A1E-3C7BD2842AF7}" type="datetime1">
              <a:rPr lang="en-IN" smtClean="0"/>
              <a:t>21-07-2026</a:t>
            </a:fld>
            <a:endParaRPr lang="en-IN"/>
          </a:p>
        </p:txBody>
      </p:sp>
      <p:sp>
        <p:nvSpPr>
          <p:cNvPr id="6" name="Footer Placeholder 5">
            <a:extLst>
              <a:ext uri="{FF2B5EF4-FFF2-40B4-BE49-F238E27FC236}">
                <a16:creationId xmlns:a16="http://schemas.microsoft.com/office/drawing/2014/main"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431EAEC-BCE3-2979-69C6-273309B9FFA7}"/>
              </a:ext>
            </a:extLst>
          </p:cNvPr>
          <p:cNvSpPr>
            <a:spLocks noGrp="1"/>
          </p:cNvSpPr>
          <p:nvPr>
            <p:ph type="sldNum" sz="quarter" idx="12"/>
          </p:nvPr>
        </p:nvSpPr>
        <p:spPr/>
        <p:txBody>
          <a:bodyPr/>
          <a:lstStyle/>
          <a:p>
            <a:fld id="{65201FD4-9D8D-4491-815B-63C7BF4F0034}" type="slidenum">
              <a:rPr lang="en-IN" smtClean="0"/>
              <a:t>7</a:t>
            </a:fld>
            <a:endParaRPr lang="en-IN"/>
          </a:p>
        </p:txBody>
      </p:sp>
    </p:spTree>
    <p:extLst>
      <p:ext uri="{BB962C8B-B14F-4D97-AF65-F5344CB8AC3E}">
        <p14:creationId xmlns:p14="http://schemas.microsoft.com/office/powerpoint/2010/main" val="3510526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1447</Words>
  <Application>Microsoft Office PowerPoint</Application>
  <PresentationFormat>Widescreen</PresentationFormat>
  <Paragraphs>103</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Programme B.Tech Course Code – BCSE497J   LAPS: Linguistic Adaptive Preservation Scoring for Explainable Token-Level Decision Making in Code-Mixed Text Rewriting</vt:lpstr>
      <vt:lpstr>Aim</vt:lpstr>
      <vt:lpstr>Abstract</vt:lpstr>
      <vt:lpstr>Literature Review</vt:lpstr>
      <vt:lpstr>Research Gap</vt:lpstr>
      <vt:lpstr>Objectives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Parthasarathy G</dc:creator>
  <cp:lastModifiedBy>ISHAN TARE</cp:lastModifiedBy>
  <cp:revision>9</cp:revision>
  <dcterms:created xsi:type="dcterms:W3CDTF">2026-07-14T06:00:41Z</dcterms:created>
  <dcterms:modified xsi:type="dcterms:W3CDTF">2026-07-21T11:24:56Z</dcterms:modified>
</cp:coreProperties>
</file>
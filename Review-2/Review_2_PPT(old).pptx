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58" r:id="rId5"/>
    <p:sldId id="259" r:id="rId6"/>
    <p:sldId id="269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5F2F40B-4E56-7E8E-3F33-16000CB7E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12" name="Title 6">
            <a:extLst>
              <a:ext uri="{FF2B5EF4-FFF2-40B4-BE49-F238E27FC236}">
                <a16:creationId xmlns:a16="http://schemas.microsoft.com/office/drawing/2014/main" id="{3EC1CFA8-E77D-0C65-2A17-B68688C22660}"/>
              </a:ext>
            </a:extLst>
          </p:cNvPr>
          <p:cNvSpPr txBox="1">
            <a:spLocks/>
          </p:cNvSpPr>
          <p:nvPr/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1800" b="1"/>
            </a:pPr>
            <a:r>
              <a:rPr lang="en-US" sz="1800" b="1"/>
              <a:t>B.Tech CSE | BCSE497J – Project 1 (Review 1)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rPr lang="en-US" sz="2200" b="1">
                <a:solidFill>
                  <a:srgbClr val="003366"/>
                </a:solidFill>
              </a:rPr>
              <a:t>LAPS: Linguistic Adaptive Preservation Scoring for Explainable Token-Level Decision Making in Code-Mixed Text Rewriting</a:t>
            </a: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FBC8D56B-F89A-6745-F127-6E8A7DAF5168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defRPr sz="1500"/>
            </a:pPr>
            <a:r>
              <a:rPr dirty="0"/>
              <a:t>Team Members:</a:t>
            </a:r>
            <a:br>
              <a:rPr dirty="0"/>
            </a:br>
            <a:r>
              <a:rPr dirty="0"/>
              <a:t>• Ishan Tare	(23BCE0603)</a:t>
            </a:r>
            <a:br>
              <a:rPr dirty="0"/>
            </a:br>
            <a:r>
              <a:rPr dirty="0"/>
              <a:t>• Aryan Chopra	(23BCI0144)</a:t>
            </a:r>
            <a:br>
              <a:rPr dirty="0"/>
            </a:br>
            <a:r>
              <a:rPr dirty="0"/>
              <a:t>• Sarth Joshi	(23BCE0384)</a:t>
            </a:r>
            <a:br>
              <a:rPr dirty="0"/>
            </a:br>
            <a:br>
              <a:rPr dirty="0"/>
            </a:br>
            <a:r>
              <a:rPr dirty="0"/>
              <a:t>Faculty Guide:</a:t>
            </a:r>
            <a:br>
              <a:rPr dirty="0"/>
            </a:br>
            <a:r>
              <a:rPr dirty="0"/>
              <a:t>• Dr. Saurabh Agarwal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AE5DB8-1DD3-69B5-D4BA-1335807E4E99}"/>
              </a:ext>
            </a:extLst>
          </p:cNvPr>
          <p:cNvSpPr txBox="1"/>
          <p:nvPr/>
        </p:nvSpPr>
        <p:spPr>
          <a:xfrm>
            <a:off x="230588" y="27829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>
                <a:highlight>
                  <a:srgbClr val="FFFF00"/>
                </a:highlight>
              </a:rPr>
              <a:t>Get the approval for the following points from your guide through mail before  01-09-2026.(sample attached below)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03-09-2026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F88D1-7A15-E122-39FA-9C7DA1DF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6" y="2653482"/>
            <a:ext cx="11381493" cy="329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1517B-9ACE-E37B-73DA-C616F06D4408}"/>
              </a:ext>
            </a:extLst>
          </p:cNvPr>
          <p:cNvSpPr txBox="1"/>
          <p:nvPr/>
        </p:nvSpPr>
        <p:spPr>
          <a:xfrm>
            <a:off x="283775" y="197346"/>
            <a:ext cx="1162445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Aim:</a:t>
            </a:r>
            <a:endParaRPr lang="en-US" dirty="0"/>
          </a:p>
          <a:p>
            <a:r>
              <a:rPr lang="en-US" dirty="0"/>
              <a:t>To design, develop, and empirically validate an explainable, token-level pre-generation decision framework (LAPS) that eliminates lexical over-translation in code-mixed text rewriting by adaptively scoring English loanword preservation across multi-factor linguistic vectors, with automated register inference and contextual homograph disambiguation.</a:t>
            </a:r>
          </a:p>
          <a:p>
            <a:endParaRPr lang="en-US" dirty="0"/>
          </a:p>
          <a:p>
            <a:r>
              <a:rPr lang="en-US" b="1" dirty="0"/>
              <a:t>Project Scope:</a:t>
            </a:r>
            <a:endParaRPr lang="en-US" dirty="0"/>
          </a:p>
          <a:p>
            <a:pPr lvl="0"/>
            <a:r>
              <a:rPr lang="en-US" b="1" dirty="0"/>
              <a:t>Language Pair &amp; Domain:</a:t>
            </a:r>
            <a:endParaRPr lang="en-US" dirty="0"/>
          </a:p>
          <a:p>
            <a:pPr lvl="1"/>
            <a:r>
              <a:rPr lang="en-US" dirty="0"/>
              <a:t>Primary focus on </a:t>
            </a:r>
            <a:r>
              <a:rPr lang="en-US" b="1" dirty="0"/>
              <a:t>Romanized Hindi-English ("Hinglish")</a:t>
            </a:r>
            <a:r>
              <a:rPr lang="en-US" dirty="0"/>
              <a:t> text transitioning to formal English or standard Hindi across </a:t>
            </a:r>
            <a:r>
              <a:rPr lang="en-US" b="1" dirty="0"/>
              <a:t>Tech, Academic, Business, and Social</a:t>
            </a:r>
            <a:r>
              <a:rPr lang="en-US" dirty="0"/>
              <a:t> domains.</a:t>
            </a:r>
          </a:p>
          <a:p>
            <a:pPr lvl="0"/>
            <a:r>
              <a:rPr lang="en-US" b="1" dirty="0"/>
              <a:t>Empirical Corpus Grounding:</a:t>
            </a:r>
            <a:endParaRPr lang="en-US" dirty="0"/>
          </a:p>
          <a:p>
            <a:pPr lvl="1"/>
            <a:r>
              <a:rPr lang="en-US" dirty="0"/>
              <a:t>Grounded on </a:t>
            </a:r>
            <a:r>
              <a:rPr lang="en-US" b="1" dirty="0"/>
              <a:t>16,024 authentic code-mixed sentences</a:t>
            </a:r>
            <a:r>
              <a:rPr lang="en-US" dirty="0"/>
              <a:t> from the </a:t>
            </a:r>
            <a:r>
              <a:rPr lang="en-US" b="1" dirty="0" err="1"/>
              <a:t>LinCE</a:t>
            </a:r>
            <a:r>
              <a:rPr lang="en-US" dirty="0"/>
              <a:t> (ACL 2020) and </a:t>
            </a:r>
            <a:r>
              <a:rPr lang="en-US" b="1" dirty="0"/>
              <a:t>PHINC</a:t>
            </a:r>
            <a:r>
              <a:rPr lang="en-US" dirty="0"/>
              <a:t> benchmarks, indexing </a:t>
            </a:r>
            <a:r>
              <a:rPr lang="en-US" b="1" dirty="0"/>
              <a:t>9,879 unique English loanwords</a:t>
            </a:r>
            <a:r>
              <a:rPr lang="en-US" dirty="0"/>
              <a:t> with continuous borrowing propensity scores.</a:t>
            </a:r>
          </a:p>
          <a:p>
            <a:pPr lvl="0"/>
            <a:r>
              <a:rPr lang="en-US" b="1" dirty="0"/>
              <a:t>Pre-Generation Neuro-Symbolic Pipeline:</a:t>
            </a:r>
            <a:endParaRPr lang="en-US" dirty="0"/>
          </a:p>
          <a:p>
            <a:pPr lvl="1"/>
            <a:r>
              <a:rPr lang="en-US" dirty="0"/>
              <a:t>Encompasses </a:t>
            </a:r>
            <a:r>
              <a:rPr lang="en-US" dirty="0" err="1"/>
              <a:t>subword</a:t>
            </a:r>
            <a:r>
              <a:rPr lang="en-US" dirty="0"/>
              <a:t> Language Identification (LID), contextual Latin-script homograph disambiguation (</a:t>
            </a:r>
            <a:r>
              <a:rPr lang="en-US" i="1" dirty="0"/>
              <a:t>us, me, so, do, to, is</a:t>
            </a:r>
            <a:r>
              <a:rPr lang="en-US" dirty="0"/>
              <a:t>), a </a:t>
            </a:r>
            <a:r>
              <a:rPr lang="en-US" b="1" dirty="0"/>
              <a:t>2,907-node SQLite Knowledge Graph</a:t>
            </a:r>
            <a:r>
              <a:rPr lang="en-US" dirty="0"/>
              <a:t>, 6 linguistic feature vectors, and a </a:t>
            </a:r>
            <a:r>
              <a:rPr lang="en-US" b="1" dirty="0"/>
              <a:t>Soft Sigmoid</a:t>
            </a:r>
            <a:r>
              <a:rPr lang="en-US" dirty="0"/>
              <a:t> dynamic threshold boundary ($\</a:t>
            </a:r>
            <a:r>
              <a:rPr lang="en-US" dirty="0" err="1"/>
              <a:t>theta_R</a:t>
            </a:r>
            <a:r>
              <a:rPr lang="en-US" dirty="0"/>
              <a:t> \in [0.35, 0.65]$).</a:t>
            </a:r>
          </a:p>
          <a:p>
            <a:pPr lvl="0"/>
            <a:r>
              <a:rPr lang="en-US" b="1" dirty="0"/>
              <a:t>Guarded Output &amp; Auditability:</a:t>
            </a:r>
            <a:endParaRPr lang="en-US" dirty="0"/>
          </a:p>
          <a:p>
            <a:pPr lvl="1"/>
            <a:r>
              <a:rPr lang="en-US" dirty="0"/>
              <a:t>Compiles machine-</a:t>
            </a:r>
            <a:r>
              <a:rPr lang="en-US" dirty="0" err="1"/>
              <a:t>parseable</a:t>
            </a:r>
            <a:r>
              <a:rPr lang="en-US" dirty="0"/>
              <a:t> </a:t>
            </a:r>
            <a:r>
              <a:rPr lang="en-US" b="1" dirty="0"/>
              <a:t>XML preservation constraints</a:t>
            </a:r>
            <a:r>
              <a:rPr lang="en-US" dirty="0"/>
              <a:t> that strictly guide downstream decoders (LLMs / NMT) and generates transparent, exportable token-level mathematical audit trails.</a:t>
            </a:r>
          </a:p>
          <a:p>
            <a:pPr lvl="0"/>
            <a:r>
              <a:rPr lang="en-US" b="1" dirty="0"/>
              <a:t>Boundaries &amp; Exclusions:</a:t>
            </a:r>
            <a:endParaRPr lang="en-US" dirty="0"/>
          </a:p>
          <a:p>
            <a:pPr lvl="1"/>
            <a:r>
              <a:rPr lang="en-US" dirty="0"/>
              <a:t>Targets conversational Romanized code-mixing (the primary chat modality for 500M+ users); native Indic script morphological segmentation and speech-to-text processing are reserved for future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14F77A-0A5F-9F5F-DCF2-9E571CEC214E}"/>
              </a:ext>
            </a:extLst>
          </p:cNvPr>
          <p:cNvSpPr txBox="1"/>
          <p:nvPr/>
        </p:nvSpPr>
        <p:spPr>
          <a:xfrm>
            <a:off x="234682" y="1240048"/>
            <a:ext cx="117226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The Problem (Lexical Over-Translation):</a:t>
            </a:r>
            <a:br>
              <a:rPr lang="en-US" dirty="0"/>
            </a:br>
            <a:r>
              <a:rPr lang="en-US" dirty="0"/>
              <a:t>In conversational code-mixed communication (such as Hinglish), speakers naturally borrow English terms (</a:t>
            </a:r>
            <a:r>
              <a:rPr lang="en-US" i="1" dirty="0"/>
              <a:t>meeting, server, client, viva, link</a:t>
            </a:r>
            <a:r>
              <a:rPr lang="en-US" dirty="0"/>
              <a:t>). Modern LLMs and Neural Machine Translation engines systematically over-translate these entrenched loanwords into archaic, unnatural equivalents (</a:t>
            </a:r>
            <a:r>
              <a:rPr lang="en-US" i="1" dirty="0"/>
              <a:t>baithak, sevak, </a:t>
            </a:r>
            <a:r>
              <a:rPr lang="en-US" i="1" dirty="0" err="1"/>
              <a:t>grahak</a:t>
            </a:r>
            <a:r>
              <a:rPr lang="en-US" i="1" dirty="0"/>
              <a:t>, kadi</a:t>
            </a:r>
            <a:r>
              <a:rPr lang="en-US" dirty="0"/>
              <a:t>), degrading conversational fluency.</a:t>
            </a:r>
          </a:p>
          <a:p>
            <a:pPr lvl="0"/>
            <a:r>
              <a:rPr lang="en-US" b="1" dirty="0"/>
              <a:t>Limitations of Existing Approaches:</a:t>
            </a:r>
            <a:br>
              <a:rPr lang="en-US" dirty="0"/>
            </a:br>
            <a:r>
              <a:rPr lang="en-US" dirty="0"/>
              <a:t>Prompt-based instructions in commercial LLMs suffer from non-deterministic drift and lack auditability, while static dictionary lookups fail completely when encountering unseen technical or domain-specific vocabulary.</a:t>
            </a:r>
          </a:p>
          <a:p>
            <a:pPr lvl="0"/>
            <a:r>
              <a:rPr lang="en-US" b="1" dirty="0"/>
              <a:t>Proposed Solution (LAPS Guardrail):</a:t>
            </a:r>
            <a:br>
              <a:rPr lang="en-US" dirty="0"/>
            </a:br>
            <a:r>
              <a:rPr lang="en-US" dirty="0"/>
              <a:t>We introduce </a:t>
            </a:r>
            <a:r>
              <a:rPr lang="en-US" b="1" dirty="0"/>
              <a:t>LAPS (Linguistic Adaptive Preservation Scoring)</a:t>
            </a:r>
            <a:r>
              <a:rPr lang="en-US" dirty="0"/>
              <a:t>, an explainable pre-generation neuro-symbolic guardrail. Positioned upstream of text generation, LAPS evaluates candidate tokens across a multi-dimensional linguistic hierarchy, resolves ambiguous Romanized homographs in context, auto-infers conversational formality registers, and compiles machine-verifiable XML constraints.</a:t>
            </a:r>
          </a:p>
          <a:p>
            <a:pPr lvl="0"/>
            <a:r>
              <a:rPr lang="en-US" b="1" dirty="0"/>
              <a:t>Validated Outcome &amp; Impact:</a:t>
            </a:r>
            <a:br>
              <a:rPr lang="en-US" dirty="0"/>
            </a:br>
            <a:r>
              <a:rPr lang="en-US" dirty="0"/>
              <a:t>Empirically grounded on authentic benchmark corpora and a bilingual Knowledge Graph, LAPS virtually eliminates over-translation while maintaining natural sentence fluency. It provides enterprise-ready transparency through token-level mathematical audit trails without requiring costly model retraining.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BA3F4F-46A5-94E1-C402-10BA377B52B6}"/>
              </a:ext>
            </a:extLst>
          </p:cNvPr>
          <p:cNvSpPr txBox="1"/>
          <p:nvPr/>
        </p:nvSpPr>
        <p:spPr>
          <a:xfrm>
            <a:off x="234682" y="740394"/>
            <a:ext cx="1046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Abstract:</a:t>
            </a:r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03-09-2026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D572DC1-122C-4FC1-870D-F95EE5DA9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633547"/>
              </p:ext>
            </p:extLst>
          </p:nvPr>
        </p:nvGraphicFramePr>
        <p:xfrm>
          <a:off x="419099" y="1630017"/>
          <a:ext cx="11293172" cy="4229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6290">
                  <a:extLst>
                    <a:ext uri="{9D8B030D-6E8A-4147-A177-3AD203B41FA5}">
                      <a16:colId xmlns:a16="http://schemas.microsoft.com/office/drawing/2014/main" val="3304673162"/>
                    </a:ext>
                  </a:extLst>
                </a:gridCol>
                <a:gridCol w="2382174">
                  <a:extLst>
                    <a:ext uri="{9D8B030D-6E8A-4147-A177-3AD203B41FA5}">
                      <a16:colId xmlns:a16="http://schemas.microsoft.com/office/drawing/2014/main" val="3615357479"/>
                    </a:ext>
                  </a:extLst>
                </a:gridCol>
                <a:gridCol w="2252120">
                  <a:extLst>
                    <a:ext uri="{9D8B030D-6E8A-4147-A177-3AD203B41FA5}">
                      <a16:colId xmlns:a16="http://schemas.microsoft.com/office/drawing/2014/main" val="2419210235"/>
                    </a:ext>
                  </a:extLst>
                </a:gridCol>
                <a:gridCol w="2328737">
                  <a:extLst>
                    <a:ext uri="{9D8B030D-6E8A-4147-A177-3AD203B41FA5}">
                      <a16:colId xmlns:a16="http://schemas.microsoft.com/office/drawing/2014/main" val="2692202799"/>
                    </a:ext>
                  </a:extLst>
                </a:gridCol>
                <a:gridCol w="2473851">
                  <a:extLst>
                    <a:ext uri="{9D8B030D-6E8A-4147-A177-3AD203B41FA5}">
                      <a16:colId xmlns:a16="http://schemas.microsoft.com/office/drawing/2014/main" val="102088535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Paper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Objective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Methodology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Pros / Cons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Findings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910616"/>
                  </a:ext>
                </a:extLst>
              </a:tr>
              <a:tr h="872866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Aguilar et al.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(LinCE, LREC 2020)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Provide a centralized evaluation benchmark for linguistic code-switching.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Curated multi-task benchmark suite (LID, POS, NER, sentiment) across Spanish-English and Hinglish.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Pros: Standardized open benchmark.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Cons: Limited to classification/tagging; lacks generative rewriting.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Code-mixed text requires dedicated benchmarks; sequence taggers cannot handle generative over-translation.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9833603"/>
                  </a:ext>
                </a:extLst>
              </a:tr>
              <a:tr h="872866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Khanuja et al.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(GLUECoS, ACL 2020)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Benchmark pretrained multilingual LLMs on diverse code-switched NLP tasks.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Evaluated mBERT and XLM-RoBERTa across 11 code-switched task datasets.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Pros: Robust multi-task baseline.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Cons: Demonstrates translation degradation but lacks preservation logic.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Standard multilingual models struggle with code-mixed borrowings, proving the need for pre-generation guardrails.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969424"/>
                  </a:ext>
                </a:extLst>
              </a:tr>
              <a:tr h="872866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Pratapa et al.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(NAACL 2018)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Generate grammatically valid code-mixed sentences adhering to linguistic constraints.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Applied Equivalence Constraint Theory and Matrix Language Frame (MLF) syntactic rules.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Pros: Linguistically sound syntax.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Cons: Rigid rules; fails to adapt across shifting informal domains.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Syntactic constraints improve structural naturalness, but static rules fail on open-domain conversational loanwords.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161816"/>
                  </a:ext>
                </a:extLst>
              </a:tr>
              <a:tr h="106201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Ribeiro et al.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(LIME, KDD 2016)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Explain predictions of complex black-box machine learning models.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Formulated Local Interpretable Model-agnostic Explanations via local surrogate linear models.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Pros: Gold standard for local explainability.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Cons: Designed for general classification; not for token-level generation.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Feature attributions significantly increase user trust, directly inspiring LAPS's token-level explainability tables.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9368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7CBC953-E0F3-56EE-EBD7-D4747A21667E}"/>
              </a:ext>
            </a:extLst>
          </p:cNvPr>
          <p:cNvSpPr txBox="1"/>
          <p:nvPr/>
        </p:nvSpPr>
        <p:spPr>
          <a:xfrm>
            <a:off x="234682" y="740394"/>
            <a:ext cx="1926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Literature Review:</a:t>
            </a:r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BFD81-D49C-D58A-7012-A2406424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2AB70-9C4A-BF0C-CF0E-46C3BBAE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B2B63-8B32-F0CB-C40C-579D38D1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A23E3B-0165-BCAA-90DF-9AB2A0FD8DEC}"/>
              </a:ext>
            </a:extLst>
          </p:cNvPr>
          <p:cNvSpPr txBox="1"/>
          <p:nvPr/>
        </p:nvSpPr>
        <p:spPr>
          <a:xfrm>
            <a:off x="234682" y="740394"/>
            <a:ext cx="1926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Literature Review: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04E5250-8AFC-9FF6-A30D-25BE6DB67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991511"/>
              </p:ext>
            </p:extLst>
          </p:nvPr>
        </p:nvGraphicFramePr>
        <p:xfrm>
          <a:off x="492981" y="1534602"/>
          <a:ext cx="11314705" cy="43414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0991">
                  <a:extLst>
                    <a:ext uri="{9D8B030D-6E8A-4147-A177-3AD203B41FA5}">
                      <a16:colId xmlns:a16="http://schemas.microsoft.com/office/drawing/2014/main" val="2371269094"/>
                    </a:ext>
                  </a:extLst>
                </a:gridCol>
                <a:gridCol w="1971924">
                  <a:extLst>
                    <a:ext uri="{9D8B030D-6E8A-4147-A177-3AD203B41FA5}">
                      <a16:colId xmlns:a16="http://schemas.microsoft.com/office/drawing/2014/main" val="2397973381"/>
                    </a:ext>
                  </a:extLst>
                </a:gridCol>
                <a:gridCol w="2703443">
                  <a:extLst>
                    <a:ext uri="{9D8B030D-6E8A-4147-A177-3AD203B41FA5}">
                      <a16:colId xmlns:a16="http://schemas.microsoft.com/office/drawing/2014/main" val="2134157781"/>
                    </a:ext>
                  </a:extLst>
                </a:gridCol>
                <a:gridCol w="2496710">
                  <a:extLst>
                    <a:ext uri="{9D8B030D-6E8A-4147-A177-3AD203B41FA5}">
                      <a16:colId xmlns:a16="http://schemas.microsoft.com/office/drawing/2014/main" val="1011972013"/>
                    </a:ext>
                  </a:extLst>
                </a:gridCol>
                <a:gridCol w="2671637">
                  <a:extLst>
                    <a:ext uri="{9D8B030D-6E8A-4147-A177-3AD203B41FA5}">
                      <a16:colId xmlns:a16="http://schemas.microsoft.com/office/drawing/2014/main" val="2823525022"/>
                    </a:ext>
                  </a:extLst>
                </a:gridCol>
              </a:tblGrid>
              <a:tr h="33266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Paper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Objective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Methodology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Pros / Cons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Findings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5328333"/>
                  </a:ext>
                </a:extLst>
              </a:tr>
              <a:tr h="950684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Srivastava et al.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(IEEE Access 2024)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Evaluate LLMs (GPT-4, Llama) on Hinglish code-mixed text normalization.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Tested commercial and open LLMs on social media text normalization and translation.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Pros: Thorough empirical LLM study.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Cons: Identifies severe over-translation but offers no deterministic fix.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Multilingual LLMs systematically over-translate natural loanwords into archaic terms unless explicitly constrained.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715664"/>
                  </a:ext>
                </a:extLst>
              </a:tr>
              <a:tr h="950684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Hokamp &amp; Liu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(ACL 2017)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Enforce lexical constraints during autoregressive sequence generation.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Developed Grid Beam Search (GBS) to force specific words to appear in NMT target outputs.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Pros: Hard constraint guarantees.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Cons: High decoding complexity; requires a pre-determined static glossary.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Proves that decoders can enforce token preservation, but requires an intelligent upstream engine to choose what to preserve.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3773552"/>
                  </a:ext>
                </a:extLst>
              </a:tr>
              <a:tr h="115668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Post &amp; Vilar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(NAACL 2018)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Accelerate lexically constrained decoding for real-time translation pipelines.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Formulated Vectorized Dynamic Beam Allocation (DBA) to dramatically speed up GBS.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Pros: Constant-time decoding overhead.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Cons: Focuses purely on downstream search; does not score loanword validity.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Confirms constrained decoding is production-feasible; LAPS serves as the upstream decision layer feeding into it.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759749"/>
                  </a:ext>
                </a:extLst>
              </a:tr>
              <a:tr h="950684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Mave et al.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(NAACL 2018)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Token-level Language Identification in real-world code-switched text.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Trained character-level BiLSTMs to classify tokens into language categories.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Pros: Robust subword noise handling.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Cons: Identifies token language but cannot decide whether to preserve or translate.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Language identification is an essential upstream prerequisite, but must be paired with borrowing propensity scoring.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035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531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7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3B4753-E48A-674A-0DDE-981FF7309F73}"/>
              </a:ext>
            </a:extLst>
          </p:cNvPr>
          <p:cNvSpPr txBox="1"/>
          <p:nvPr/>
        </p:nvSpPr>
        <p:spPr>
          <a:xfrm>
            <a:off x="160351" y="966053"/>
            <a:ext cx="11871297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600" b="1" dirty="0"/>
              <a:t>1. Absence of an Upstream Decision Engine for Constrained Decoding</a:t>
            </a:r>
            <a:endParaRPr lang="en-US" sz="1600" dirty="0"/>
          </a:p>
          <a:p>
            <a:pPr lvl="1"/>
            <a:r>
              <a:rPr lang="en-US" sz="1600" b="1" dirty="0"/>
              <a:t>Gap:</a:t>
            </a:r>
            <a:r>
              <a:rPr lang="en-US" sz="1600" dirty="0"/>
              <a:t> Existing constrained decoding algorithms (</a:t>
            </a:r>
            <a:r>
              <a:rPr lang="en-US" sz="1600" i="1" dirty="0"/>
              <a:t>Hokamp &amp; Liu, Post &amp; Vilar</a:t>
            </a:r>
            <a:r>
              <a:rPr lang="en-US" sz="1600" dirty="0"/>
              <a:t>) can strictly enforce token preservation, but they </a:t>
            </a:r>
            <a:r>
              <a:rPr lang="en-US" sz="1600" b="1" dirty="0"/>
              <a:t>require a static, pre-defined glossary</a:t>
            </a:r>
            <a:r>
              <a:rPr lang="en-US" sz="1600" dirty="0"/>
              <a:t>.</a:t>
            </a:r>
          </a:p>
          <a:p>
            <a:pPr lvl="1"/>
            <a:r>
              <a:rPr lang="en-US" sz="1600" b="1" dirty="0"/>
              <a:t>Limitation:</a:t>
            </a:r>
            <a:r>
              <a:rPr lang="en-US" sz="1600" dirty="0"/>
              <a:t> No prior framework dynamically evaluates conversational context to decide </a:t>
            </a:r>
            <a:r>
              <a:rPr lang="en-US" sz="1600" i="1" dirty="0"/>
              <a:t>which</a:t>
            </a:r>
            <a:r>
              <a:rPr lang="en-US" sz="1600" dirty="0"/>
              <a:t> loanwords should be preserved and </a:t>
            </a:r>
            <a:r>
              <a:rPr lang="en-US" sz="1600" i="1" dirty="0"/>
              <a:t>which</a:t>
            </a:r>
            <a:r>
              <a:rPr lang="en-US" sz="1600" dirty="0"/>
              <a:t> should be translated.</a:t>
            </a:r>
          </a:p>
          <a:p>
            <a:pPr lvl="0"/>
            <a:r>
              <a:rPr lang="en-US" sz="1600" b="1" dirty="0"/>
              <a:t>2. Severe Lexical Over-Translation in Generative LLMs</a:t>
            </a:r>
            <a:endParaRPr lang="en-US" sz="1600" dirty="0"/>
          </a:p>
          <a:p>
            <a:pPr lvl="1"/>
            <a:r>
              <a:rPr lang="en-US" sz="1600" b="1" dirty="0"/>
              <a:t>Gap:</a:t>
            </a:r>
            <a:r>
              <a:rPr lang="en-US" sz="1600" dirty="0"/>
              <a:t> Multilingual LLMs (GPT-4, Llama 3) and NMT models exhibit a strong monolingual target bias, translating natural borrowings (</a:t>
            </a:r>
            <a:r>
              <a:rPr lang="en-US" sz="1600" i="1" dirty="0"/>
              <a:t>meeting $\to$ baithak, client $\to$ </a:t>
            </a:r>
            <a:r>
              <a:rPr lang="en-US" sz="1600" i="1" dirty="0" err="1"/>
              <a:t>grahak</a:t>
            </a:r>
            <a:r>
              <a:rPr lang="en-US" sz="1600" i="1" dirty="0"/>
              <a:t>, link $\to$ kadi</a:t>
            </a:r>
            <a:r>
              <a:rPr lang="en-US" sz="1600" dirty="0"/>
              <a:t>).</a:t>
            </a:r>
          </a:p>
          <a:p>
            <a:pPr lvl="1"/>
            <a:r>
              <a:rPr lang="en-US" sz="1600" b="1" dirty="0"/>
              <a:t>Limitation:</a:t>
            </a:r>
            <a:r>
              <a:rPr lang="en-US" sz="1600" dirty="0"/>
              <a:t> Raw unconstrained translation yields an </a:t>
            </a:r>
            <a:r>
              <a:rPr lang="en-US" sz="1600" b="1" dirty="0"/>
              <a:t>11.93% Over-Translation Error Rate</a:t>
            </a:r>
            <a:r>
              <a:rPr lang="en-US" sz="1600" dirty="0"/>
              <a:t>, corrupting 1 out of every 8 conversational loanwords into archaic, robotic equivalents.</a:t>
            </a:r>
          </a:p>
          <a:p>
            <a:pPr lvl="0"/>
            <a:r>
              <a:rPr lang="en-US" sz="1600" b="1" dirty="0"/>
              <a:t>3. Fragility &amp; Zero Generalization of Static Whitelists</a:t>
            </a:r>
            <a:endParaRPr lang="en-US" sz="1600" dirty="0"/>
          </a:p>
          <a:p>
            <a:pPr lvl="1"/>
            <a:r>
              <a:rPr lang="en-US" sz="1600" b="1" dirty="0"/>
              <a:t>Gap:</a:t>
            </a:r>
            <a:r>
              <a:rPr lang="en-US" sz="1600" dirty="0"/>
              <a:t> Traditional industry approaches rely on hardcoded keyword dictionaries.</a:t>
            </a:r>
          </a:p>
          <a:p>
            <a:pPr lvl="1"/>
            <a:r>
              <a:rPr lang="en-US" sz="1600" b="1" dirty="0"/>
              <a:t>Limitation:</a:t>
            </a:r>
            <a:r>
              <a:rPr lang="en-US" sz="1600" dirty="0"/>
              <a:t> Fixed glossaries collapse on emerging, out-of-vocabulary, or domain-specific technical terminology, achieving only </a:t>
            </a:r>
            <a:r>
              <a:rPr lang="en-US" sz="1600" b="1" dirty="0"/>
              <a:t>0.0477 Token F1</a:t>
            </a:r>
            <a:r>
              <a:rPr lang="en-US" sz="1600" dirty="0"/>
              <a:t> in real-world conversational data.</a:t>
            </a:r>
          </a:p>
          <a:p>
            <a:pPr lvl="0"/>
            <a:r>
              <a:rPr lang="en-US" sz="1600" b="1" dirty="0"/>
              <a:t>4. Lack of Dynamic Communicative Register Adaptation</a:t>
            </a:r>
            <a:endParaRPr lang="en-US" sz="1600" dirty="0"/>
          </a:p>
          <a:p>
            <a:pPr lvl="1"/>
            <a:r>
              <a:rPr lang="en-US" sz="1600" b="1" dirty="0"/>
              <a:t>Gap:</a:t>
            </a:r>
            <a:r>
              <a:rPr lang="en-US" sz="1600" dirty="0"/>
              <a:t> Existing rule-based systems use rigid binary cutoffs that cannot adapt to the formality of the conversation.</a:t>
            </a:r>
          </a:p>
          <a:p>
            <a:pPr lvl="1"/>
            <a:r>
              <a:rPr lang="en-US" sz="1600" b="1" dirty="0"/>
              <a:t>Limitation:</a:t>
            </a:r>
            <a:r>
              <a:rPr lang="en-US" sz="1600" dirty="0"/>
              <a:t> Fails to adjust preservation strictness across different communicative registers—e.g., casual WhatsApp chat ($\theta = 0.35$) vs. formal business/academic discourse ($\theta = 0.65$).</a:t>
            </a:r>
          </a:p>
          <a:p>
            <a:pPr lvl="0"/>
            <a:r>
              <a:rPr lang="en-US" sz="1600" b="1" dirty="0"/>
              <a:t>5. Black-Box Opacity &amp; Orthographic Homograph Collisions</a:t>
            </a:r>
            <a:endParaRPr lang="en-US" sz="1600" dirty="0"/>
          </a:p>
          <a:p>
            <a:pPr lvl="1"/>
            <a:r>
              <a:rPr lang="en-US" sz="1600" b="1" dirty="0"/>
              <a:t>Gap:</a:t>
            </a:r>
            <a:r>
              <a:rPr lang="en-US" sz="1600" dirty="0"/>
              <a:t> Commercial generative models offer zero transparent mathematical audit trails explaining why a term was retained or translated.</a:t>
            </a:r>
          </a:p>
          <a:p>
            <a:pPr lvl="1"/>
            <a:r>
              <a:rPr lang="en-US" sz="1600" b="1" dirty="0"/>
              <a:t>Limitation:</a:t>
            </a:r>
            <a:r>
              <a:rPr lang="en-US" sz="1600" dirty="0"/>
              <a:t> Upstream language taggers fail on Latin-script collisions (</a:t>
            </a:r>
            <a:r>
              <a:rPr lang="en-US" sz="1600" i="1" dirty="0"/>
              <a:t>"us room me meeting h to link </a:t>
            </a:r>
            <a:r>
              <a:rPr lang="en-US" sz="1600" i="1" dirty="0" err="1"/>
              <a:t>bhej</a:t>
            </a:r>
            <a:r>
              <a:rPr lang="en-US" sz="1600" i="1" dirty="0"/>
              <a:t> do"</a:t>
            </a:r>
            <a:r>
              <a:rPr lang="en-US" sz="1600" dirty="0"/>
              <a:t>), misidentifying Hindi grammatical markers (</a:t>
            </a:r>
            <a:r>
              <a:rPr lang="en-US" sz="1600" i="1" dirty="0"/>
              <a:t>us, me, to, do</a:t>
            </a:r>
            <a:r>
              <a:rPr lang="en-US" sz="1600" dirty="0"/>
              <a:t>) as English loanwords.</a:t>
            </a:r>
          </a:p>
          <a:p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73475C-F6E7-C18D-F2AC-DC740E1B70CC}"/>
              </a:ext>
            </a:extLst>
          </p:cNvPr>
          <p:cNvSpPr txBox="1"/>
          <p:nvPr/>
        </p:nvSpPr>
        <p:spPr>
          <a:xfrm>
            <a:off x="160351" y="486394"/>
            <a:ext cx="1546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Research Gap:</a:t>
            </a:r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85A49B1-3DE6-759C-F1C1-E0E694AF93A5}"/>
              </a:ext>
            </a:extLst>
          </p:cNvPr>
          <p:cNvSpPr txBox="1"/>
          <p:nvPr/>
        </p:nvSpPr>
        <p:spPr>
          <a:xfrm>
            <a:off x="489080" y="1028343"/>
            <a:ext cx="1121383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b="1" dirty="0"/>
              <a:t>Primary Project Objectives:</a:t>
            </a:r>
            <a:endParaRPr lang="en-US" dirty="0"/>
          </a:p>
          <a:p>
            <a:pPr lvl="1"/>
            <a:r>
              <a:rPr lang="en-US" dirty="0"/>
              <a:t>Construct a code-mixed tokenization, </a:t>
            </a:r>
            <a:r>
              <a:rPr lang="en-US" dirty="0" err="1"/>
              <a:t>subword</a:t>
            </a:r>
            <a:r>
              <a:rPr lang="en-US" dirty="0"/>
              <a:t> Language Identification, and homograph disambiguation pipeline.</a:t>
            </a:r>
          </a:p>
          <a:p>
            <a:pPr lvl="1"/>
            <a:r>
              <a:rPr lang="en-US" dirty="0"/>
              <a:t>Formulate a 6-factor empirical and Knowledge Graph-grounded Token Preservation Scoring Engine (LAPS).</a:t>
            </a:r>
          </a:p>
          <a:p>
            <a:pPr lvl="1"/>
            <a:r>
              <a:rPr lang="en-US" dirty="0"/>
              <a:t>Develop an Automated Register Predictor and Soft Sigmoid Threshold Engine to regulate sensitivity dynamically.</a:t>
            </a:r>
          </a:p>
          <a:p>
            <a:pPr lvl="1"/>
            <a:r>
              <a:rPr lang="en-US" dirty="0"/>
              <a:t>Integrate LAPS with LLM rewriters via XML constraint guardrails and implement an explainability module.</a:t>
            </a:r>
          </a:p>
          <a:p>
            <a:pPr lvl="1"/>
            <a:r>
              <a:rPr lang="en-US" dirty="0"/>
              <a:t>Conduct comprehensive empirical evaluation using OTER, UTER, BLEU, and inter-annotator agreement studies.</a:t>
            </a:r>
          </a:p>
          <a:p>
            <a:pPr lvl="0"/>
            <a:br>
              <a:rPr lang="en-US" dirty="0"/>
            </a:br>
            <a:r>
              <a:rPr lang="en-US" b="1" dirty="0"/>
              <a:t>Identified Sustainable Development Goals (SDGs):</a:t>
            </a:r>
            <a:endParaRPr lang="en-US" dirty="0"/>
          </a:p>
          <a:p>
            <a:pPr lvl="1"/>
            <a:r>
              <a:rPr lang="en-US" b="1" dirty="0"/>
              <a:t>SDG 4 (Quality Education):</a:t>
            </a:r>
            <a:r>
              <a:rPr lang="en-US" dirty="0"/>
              <a:t> Enhances multilingual digital literacy &amp; protects academic terminology.</a:t>
            </a:r>
          </a:p>
          <a:p>
            <a:pPr lvl="1"/>
            <a:r>
              <a:rPr lang="en-US" b="1" dirty="0"/>
              <a:t>SDG 9 (Industry, Innovation &amp; Infrastructure):</a:t>
            </a:r>
            <a:r>
              <a:rPr lang="en-US" dirty="0"/>
              <a:t> Fosters trustworthy, explainable, and enterprise-grade AI systems.</a:t>
            </a:r>
          </a:p>
          <a:p>
            <a:pPr lvl="1"/>
            <a:r>
              <a:rPr lang="en-US" b="1" dirty="0"/>
              <a:t>SDG 10 (Reduced Inequalities):</a:t>
            </a:r>
            <a:r>
              <a:rPr lang="en-US" dirty="0"/>
              <a:t> Bridges linguistic barriers for 500M+ code-mixed native speakers.</a:t>
            </a:r>
          </a:p>
          <a:p>
            <a:pPr lvl="0"/>
            <a:br>
              <a:rPr lang="en-US" dirty="0"/>
            </a:br>
            <a:r>
              <a:rPr lang="en-US" b="1" dirty="0"/>
              <a:t>Target Deliverable Outcomes:</a:t>
            </a:r>
            <a:endParaRPr lang="en-US" dirty="0"/>
          </a:p>
          <a:p>
            <a:pPr lvl="1"/>
            <a:r>
              <a:rPr lang="en-US" b="1" dirty="0"/>
              <a:t>Research Paper:</a:t>
            </a:r>
            <a:r>
              <a:rPr lang="en-US" dirty="0"/>
              <a:t> IEEE / Scopus-indexed Conference or Journal (ICON 2026 / IEEE Access).</a:t>
            </a:r>
          </a:p>
          <a:p>
            <a:pPr lvl="1"/>
            <a:r>
              <a:rPr lang="en-US" b="1" dirty="0"/>
              <a:t>Patent Application:</a:t>
            </a:r>
            <a:r>
              <a:rPr lang="en-US" dirty="0"/>
              <a:t> Provisional Patent Application (Pre-Generation Token Preservation Framework).</a:t>
            </a:r>
          </a:p>
          <a:p>
            <a:pPr lvl="1"/>
            <a:r>
              <a:rPr lang="en-US" b="1" dirty="0"/>
              <a:t>Prototype:</a:t>
            </a:r>
            <a:r>
              <a:rPr lang="en-US" dirty="0"/>
              <a:t> Working Web Application (</a:t>
            </a:r>
            <a:r>
              <a:rPr lang="en-US" dirty="0" err="1"/>
              <a:t>Streamlit</a:t>
            </a:r>
            <a:r>
              <a:rPr lang="en-US" dirty="0"/>
              <a:t> Dashboard at localhost:8501).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3DF187-59E1-9A29-5192-041B60990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4877"/>
            <a:ext cx="12192000" cy="42192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C661301-BA4C-D586-19B8-A497D499CA5D}"/>
              </a:ext>
            </a:extLst>
          </p:cNvPr>
          <p:cNvSpPr txBox="1"/>
          <p:nvPr/>
        </p:nvSpPr>
        <p:spPr>
          <a:xfrm>
            <a:off x="454549" y="729180"/>
            <a:ext cx="2164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System Architecture: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0221A8-2D7D-F67A-40E7-9CCC1836C5EF}"/>
              </a:ext>
            </a:extLst>
          </p:cNvPr>
          <p:cNvSpPr txBox="1"/>
          <p:nvPr/>
        </p:nvSpPr>
        <p:spPr>
          <a:xfrm>
            <a:off x="151075" y="258167"/>
            <a:ext cx="2638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Functional Requirements: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CDD58B-924A-A213-5070-FBBB6A42629E}"/>
              </a:ext>
            </a:extLst>
          </p:cNvPr>
          <p:cNvSpPr txBox="1"/>
          <p:nvPr/>
        </p:nvSpPr>
        <p:spPr>
          <a:xfrm>
            <a:off x="326322" y="627499"/>
            <a:ext cx="1153935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FR-1: Code-Mixing Index (CMI) Detection</a:t>
            </a:r>
            <a:br>
              <a:rPr lang="en-US" dirty="0"/>
            </a:br>
            <a:r>
              <a:rPr lang="en-US" dirty="0"/>
              <a:t>Computes sentence-level CMI (</a:t>
            </a:r>
            <a:r>
              <a:rPr lang="en-US" i="1" dirty="0" err="1"/>
              <a:t>Gambäck</a:t>
            </a:r>
            <a:r>
              <a:rPr lang="en-US" i="1" dirty="0"/>
              <a:t> &amp; Das, 2014</a:t>
            </a:r>
            <a:r>
              <a:rPr lang="en-US" dirty="0"/>
              <a:t>) to automatically bypass monolingual sentences without unnecessary downstream processing.</a:t>
            </a:r>
          </a:p>
          <a:p>
            <a:pPr lvl="0"/>
            <a:r>
              <a:rPr lang="en-US" b="1" dirty="0"/>
              <a:t>FR-2: </a:t>
            </a:r>
            <a:r>
              <a:rPr lang="en-US" b="1" dirty="0" err="1"/>
              <a:t>Subword</a:t>
            </a:r>
            <a:r>
              <a:rPr lang="en-US" b="1" dirty="0"/>
              <a:t> Language Identification</a:t>
            </a:r>
            <a:br>
              <a:rPr lang="en-US" dirty="0"/>
            </a:br>
            <a:r>
              <a:rPr lang="en-US" dirty="0"/>
              <a:t>Classifies tokens into language categories (EN, HI, MIXED, PUNCT) and tags orthographic scripts (</a:t>
            </a:r>
            <a:r>
              <a:rPr lang="en-US" i="1" dirty="0"/>
              <a:t>Latin</a:t>
            </a:r>
            <a:r>
              <a:rPr lang="en-US" dirty="0"/>
              <a:t> vs. </a:t>
            </a:r>
            <a:r>
              <a:rPr lang="en-US" i="1" dirty="0"/>
              <a:t>Devanagari</a:t>
            </a:r>
            <a:r>
              <a:rPr lang="en-US" dirty="0"/>
              <a:t>).</a:t>
            </a:r>
          </a:p>
          <a:p>
            <a:pPr lvl="0"/>
            <a:r>
              <a:rPr lang="en-US" b="1" dirty="0"/>
              <a:t>FR-3: Contextual Homograph Disambiguation</a:t>
            </a:r>
            <a:br>
              <a:rPr lang="en-US" dirty="0"/>
            </a:br>
            <a:r>
              <a:rPr lang="en-US" dirty="0"/>
              <a:t>Resolves Latin-script collisions (</a:t>
            </a:r>
            <a:r>
              <a:rPr lang="en-US" i="1" dirty="0"/>
              <a:t>us, me, so, do, to, is</a:t>
            </a:r>
            <a:r>
              <a:rPr lang="en-US" dirty="0"/>
              <a:t>) using neighboring postpositions to eliminate false-positive loanword detections.</a:t>
            </a:r>
          </a:p>
          <a:p>
            <a:pPr lvl="0"/>
            <a:r>
              <a:rPr lang="en-US" b="1" dirty="0"/>
              <a:t>FR-4: 6-Factor Feature Extraction</a:t>
            </a:r>
            <a:br>
              <a:rPr lang="en-US" dirty="0"/>
            </a:br>
            <a:r>
              <a:rPr lang="en-US" dirty="0"/>
              <a:t>Computes continuous normalized scores [0.0, 1.0] across Borrowing Frequency, Domain Specificity, Semantic Importance Context Consistency, Audience Familiarity, and Translation Benefit.</a:t>
            </a:r>
          </a:p>
          <a:p>
            <a:pPr lvl="0"/>
            <a:r>
              <a:rPr lang="en-US" b="1" dirty="0"/>
              <a:t>FR-5: Automated Conversational Register Inference</a:t>
            </a:r>
            <a:br>
              <a:rPr lang="en-US" dirty="0"/>
            </a:br>
            <a:r>
              <a:rPr lang="en-US" dirty="0"/>
              <a:t>Infers communicative register (</a:t>
            </a:r>
            <a:r>
              <a:rPr lang="en-US" i="1" dirty="0"/>
              <a:t>Casual, Social, Business, Academic</a:t>
            </a:r>
            <a:r>
              <a:rPr lang="en-US" dirty="0"/>
              <a:t>) from text cues and dynamically assigns the baseline threshold.</a:t>
            </a:r>
          </a:p>
          <a:p>
            <a:pPr lvl="0"/>
            <a:r>
              <a:rPr lang="en-US" b="1" dirty="0"/>
              <a:t>FR-6: Soft Sigmoid Decision Mapping</a:t>
            </a:r>
            <a:br>
              <a:rPr lang="en-US" dirty="0"/>
            </a:br>
            <a:r>
              <a:rPr lang="en-US" dirty="0"/>
              <a:t>Evaluates continuous logistic probability </a:t>
            </a:r>
            <a:r>
              <a:rPr lang="en-US" b="1" dirty="0"/>
              <a:t>Preserve</a:t>
            </a:r>
            <a:r>
              <a:rPr lang="en-US" dirty="0"/>
              <a:t> and categorizes tokens into </a:t>
            </a:r>
            <a:r>
              <a:rPr lang="en-US" b="1" dirty="0"/>
              <a:t>PRESERVE</a:t>
            </a:r>
            <a:r>
              <a:rPr lang="en-US" dirty="0"/>
              <a:t>, </a:t>
            </a:r>
            <a:r>
              <a:rPr lang="en-US" b="1" dirty="0"/>
              <a:t>UNCERTAIN</a:t>
            </a:r>
            <a:r>
              <a:rPr lang="en-US" dirty="0"/>
              <a:t>, or </a:t>
            </a:r>
            <a:r>
              <a:rPr lang="en-US" b="1" dirty="0"/>
              <a:t>REWRITE</a:t>
            </a:r>
            <a:r>
              <a:rPr lang="en-US" dirty="0"/>
              <a:t> zones.</a:t>
            </a:r>
          </a:p>
          <a:p>
            <a:pPr lvl="0"/>
            <a:r>
              <a:rPr lang="en-US" b="1" dirty="0"/>
              <a:t>FR-7: XML Guardrail Constraint Synthesis</a:t>
            </a:r>
            <a:br>
              <a:rPr lang="en-US" dirty="0"/>
            </a:br>
            <a:r>
              <a:rPr lang="en-US" dirty="0"/>
              <a:t>Compiles verified loanword decisions into machine-</a:t>
            </a:r>
            <a:r>
              <a:rPr lang="en-US" dirty="0" err="1"/>
              <a:t>parseable</a:t>
            </a:r>
            <a:r>
              <a:rPr lang="en-US" dirty="0"/>
              <a:t> XML prompt constraints to prevent downstream LLM prompt drift.</a:t>
            </a:r>
          </a:p>
          <a:p>
            <a:pPr lvl="0"/>
            <a:r>
              <a:rPr lang="en-US" b="1" dirty="0"/>
              <a:t>FR-8: Enterprise Audit Trail &amp; Explainability</a:t>
            </a:r>
            <a:br>
              <a:rPr lang="en-US" dirty="0"/>
            </a:br>
            <a:r>
              <a:rPr lang="en-US" dirty="0"/>
              <a:t>Generates transparent token-level mathematical rationales, hexagonal radar charts, and exportable CSV audit reports.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A69DFA-AE0D-C104-190D-D280AFA15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488154"/>
              </p:ext>
            </p:extLst>
          </p:nvPr>
        </p:nvGraphicFramePr>
        <p:xfrm>
          <a:off x="254441" y="1296063"/>
          <a:ext cx="11736124" cy="48661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4031">
                  <a:extLst>
                    <a:ext uri="{9D8B030D-6E8A-4147-A177-3AD203B41FA5}">
                      <a16:colId xmlns:a16="http://schemas.microsoft.com/office/drawing/2014/main" val="3931544616"/>
                    </a:ext>
                  </a:extLst>
                </a:gridCol>
                <a:gridCol w="2934031">
                  <a:extLst>
                    <a:ext uri="{9D8B030D-6E8A-4147-A177-3AD203B41FA5}">
                      <a16:colId xmlns:a16="http://schemas.microsoft.com/office/drawing/2014/main" val="2040359903"/>
                    </a:ext>
                  </a:extLst>
                </a:gridCol>
                <a:gridCol w="2934031">
                  <a:extLst>
                    <a:ext uri="{9D8B030D-6E8A-4147-A177-3AD203B41FA5}">
                      <a16:colId xmlns:a16="http://schemas.microsoft.com/office/drawing/2014/main" val="1919455589"/>
                    </a:ext>
                  </a:extLst>
                </a:gridCol>
                <a:gridCol w="2934031">
                  <a:extLst>
                    <a:ext uri="{9D8B030D-6E8A-4147-A177-3AD203B41FA5}">
                      <a16:colId xmlns:a16="http://schemas.microsoft.com/office/drawing/2014/main" val="3193781230"/>
                    </a:ext>
                  </a:extLst>
                </a:gridCol>
              </a:tblGrid>
              <a:tr h="3306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b="1" dirty="0">
                          <a:effectLst/>
                        </a:rPr>
                        <a:t>Module Name</a:t>
                      </a:r>
                      <a:endParaRPr lang="en-US" sz="976" b="1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b="1">
                          <a:effectLst/>
                        </a:rPr>
                        <a:t>Source File</a:t>
                      </a:r>
                      <a:endParaRPr lang="en-US" sz="976" b="1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b="1">
                          <a:effectLst/>
                        </a:rPr>
                        <a:t>Core Functionality</a:t>
                      </a:r>
                      <a:endParaRPr lang="en-US" sz="976" b="1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b="1" dirty="0">
                          <a:effectLst/>
                        </a:rPr>
                        <a:t>Operational Status</a:t>
                      </a:r>
                      <a:endParaRPr lang="en-US" sz="976" b="1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499483"/>
                  </a:ext>
                </a:extLst>
              </a:tr>
              <a:tr h="3306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CMI Detector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src/laps/cmi_detector.py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Calculates sentence-level Code-Mixing Index.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 Operational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724040"/>
                  </a:ext>
                </a:extLst>
              </a:tr>
              <a:tr h="3306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Subword LID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src/laps/tokenizer.py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Subword tokenization and script identification.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 Operational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762705"/>
                  </a:ext>
                </a:extLst>
              </a:tr>
              <a:tr h="535462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Neural LID &amp; Homograph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src/laps/neural_lid.py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Character-level CNN + homograph disambiguator.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 Operational (NEW)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959218"/>
                  </a:ext>
                </a:extLst>
              </a:tr>
              <a:tr h="535462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Register Detector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src/laps/register_detector.py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Automated formality &amp; register threshold inference.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 Operational (NEW)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89470"/>
                  </a:ext>
                </a:extLst>
              </a:tr>
              <a:tr h="535462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Feature Extractor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src/laps/feature_extractor.py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6-feature vector calculation via all-MiniLM-L6-v2.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 Operational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4871580"/>
                  </a:ext>
                </a:extLst>
              </a:tr>
              <a:tr h="3306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Knowledge Graph API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src/laps/graph_engine.py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SQLite query API for 2,907 nodes &amp; 2,940 edges.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 Operational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074943"/>
                  </a:ext>
                </a:extLst>
              </a:tr>
              <a:tr h="535462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Scorer &amp; Threshold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src/laps/scorer.py, threshold_engine.py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Weighted scoring, simplex weights $w^*$, &amp; Soft Sigmoid.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 Operational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829910"/>
                  </a:ext>
                </a:extLst>
              </a:tr>
              <a:tr h="535462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XML Rewriter &amp; Explainer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src/llm/rewriter.py, explainer.py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XML constraint synthesis &amp; structured audit reporting.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 Operational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551314"/>
                  </a:ext>
                </a:extLst>
              </a:tr>
              <a:tr h="535462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Interactive Web UI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app.py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4-tab Streamlit web application at localhost:8501.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 Operational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69851"/>
                  </a:ext>
                </a:extLst>
              </a:tr>
              <a:tr h="3306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Automated Test Suite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tests/test_laps.py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Comprehensive unit and integration test suite.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 18/18 Passed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4861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6513E8E-6031-7DBB-EAF8-3CC86B259DB8}"/>
              </a:ext>
            </a:extLst>
          </p:cNvPr>
          <p:cNvSpPr txBox="1"/>
          <p:nvPr/>
        </p:nvSpPr>
        <p:spPr>
          <a:xfrm>
            <a:off x="254441" y="596348"/>
            <a:ext cx="242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Modules Implemented: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AFBEA8-CB99-D8B7-C78B-B5B92B9DE214}"/>
              </a:ext>
            </a:extLst>
          </p:cNvPr>
          <p:cNvSpPr txBox="1"/>
          <p:nvPr/>
        </p:nvSpPr>
        <p:spPr>
          <a:xfrm>
            <a:off x="151076" y="477079"/>
            <a:ext cx="2590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Experiments and Results:</a:t>
            </a: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D711D11-EE58-761D-6F19-DD9429BDC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196660"/>
              </p:ext>
            </p:extLst>
          </p:nvPr>
        </p:nvGraphicFramePr>
        <p:xfrm>
          <a:off x="331304" y="1121134"/>
          <a:ext cx="11529392" cy="21309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7056">
                  <a:extLst>
                    <a:ext uri="{9D8B030D-6E8A-4147-A177-3AD203B41FA5}">
                      <a16:colId xmlns:a16="http://schemas.microsoft.com/office/drawing/2014/main" val="2464551139"/>
                    </a:ext>
                  </a:extLst>
                </a:gridCol>
                <a:gridCol w="1647056">
                  <a:extLst>
                    <a:ext uri="{9D8B030D-6E8A-4147-A177-3AD203B41FA5}">
                      <a16:colId xmlns:a16="http://schemas.microsoft.com/office/drawing/2014/main" val="1518836155"/>
                    </a:ext>
                  </a:extLst>
                </a:gridCol>
                <a:gridCol w="1647056">
                  <a:extLst>
                    <a:ext uri="{9D8B030D-6E8A-4147-A177-3AD203B41FA5}">
                      <a16:colId xmlns:a16="http://schemas.microsoft.com/office/drawing/2014/main" val="4109630489"/>
                    </a:ext>
                  </a:extLst>
                </a:gridCol>
                <a:gridCol w="1647056">
                  <a:extLst>
                    <a:ext uri="{9D8B030D-6E8A-4147-A177-3AD203B41FA5}">
                      <a16:colId xmlns:a16="http://schemas.microsoft.com/office/drawing/2014/main" val="3886754204"/>
                    </a:ext>
                  </a:extLst>
                </a:gridCol>
                <a:gridCol w="1647056">
                  <a:extLst>
                    <a:ext uri="{9D8B030D-6E8A-4147-A177-3AD203B41FA5}">
                      <a16:colId xmlns:a16="http://schemas.microsoft.com/office/drawing/2014/main" val="3016128966"/>
                    </a:ext>
                  </a:extLst>
                </a:gridCol>
                <a:gridCol w="1647056">
                  <a:extLst>
                    <a:ext uri="{9D8B030D-6E8A-4147-A177-3AD203B41FA5}">
                      <a16:colId xmlns:a16="http://schemas.microsoft.com/office/drawing/2014/main" val="636677745"/>
                    </a:ext>
                  </a:extLst>
                </a:gridCol>
                <a:gridCol w="1647056">
                  <a:extLst>
                    <a:ext uri="{9D8B030D-6E8A-4147-A177-3AD203B41FA5}">
                      <a16:colId xmlns:a16="http://schemas.microsoft.com/office/drawing/2014/main" val="1597018674"/>
                    </a:ext>
                  </a:extLst>
                </a:gridCol>
              </a:tblGrid>
              <a:tr h="309956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>
                          <a:effectLst/>
                        </a:rPr>
                        <a:t>System / Architecture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dirty="0">
                          <a:effectLst/>
                        </a:rPr>
                        <a:t>OTER (poor)</a:t>
                      </a:r>
                      <a:endParaRPr lang="en-US" sz="1000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dirty="0">
                          <a:effectLst/>
                        </a:rPr>
                        <a:t>UTER (poor)</a:t>
                      </a:r>
                      <a:endParaRPr lang="en-US" sz="1000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dirty="0">
                          <a:effectLst/>
                        </a:rPr>
                        <a:t>BLEU (better)</a:t>
                      </a:r>
                      <a:endParaRPr lang="en-US" sz="1000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dirty="0" err="1">
                          <a:effectLst/>
                        </a:rPr>
                        <a:t>chrF</a:t>
                      </a:r>
                      <a:r>
                        <a:rPr lang="en-US" sz="1000" dirty="0">
                          <a:effectLst/>
                        </a:rPr>
                        <a:t>++ (better)</a:t>
                      </a:r>
                      <a:endParaRPr lang="en-US" sz="1000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dirty="0">
                          <a:effectLst/>
                        </a:rPr>
                        <a:t>Token F1 (better)</a:t>
                      </a:r>
                      <a:endParaRPr lang="en-US" sz="1000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Statistical Significance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2782532"/>
                  </a:ext>
                </a:extLst>
              </a:tr>
              <a:tr h="50367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>
                          <a:effectLst/>
                        </a:rPr>
                        <a:t>Unconstrained NMT Baseline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0.1193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0.8482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0.4177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0.4370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0.0000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$p = 0.0001$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493005"/>
                  </a:ext>
                </a:extLst>
              </a:tr>
              <a:tr h="309956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>
                          <a:effectLst/>
                        </a:rPr>
                        <a:t>Static Dictionary Filter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0.0852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0.8442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0.4332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0.4503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0.0477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$p = 0.0001$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268240"/>
                  </a:ext>
                </a:extLst>
              </a:tr>
              <a:tr h="50367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>
                          <a:effectLst/>
                        </a:rPr>
                        <a:t>Few-Shot In-Context Learning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0.0485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0.8442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0.4429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0.4610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0.0973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$p = 0.0001$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3593771"/>
                  </a:ext>
                </a:extLst>
              </a:tr>
              <a:tr h="50367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>
                          <a:effectLst/>
                        </a:rPr>
                        <a:t>LAPS Guardrail (Proposed)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0.0108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0.8442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0.4575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0.4732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0.9567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dirty="0">
                          <a:effectLst/>
                        </a:rPr>
                        <a:t>Baseline Reference</a:t>
                      </a:r>
                      <a:endParaRPr lang="en-US" sz="1000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518535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DA91C88-6C5F-AD10-C30E-F21F30BD1051}"/>
              </a:ext>
            </a:extLst>
          </p:cNvPr>
          <p:cNvSpPr txBox="1"/>
          <p:nvPr/>
        </p:nvSpPr>
        <p:spPr>
          <a:xfrm>
            <a:off x="331304" y="3605918"/>
            <a:ext cx="115293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11× Over-Translation Suppression:</a:t>
            </a:r>
            <a:r>
              <a:rPr lang="en-US" dirty="0"/>
              <a:t> LAPS reduces Over-Translation Error Rate (OTER) from </a:t>
            </a:r>
            <a:r>
              <a:rPr lang="en-US" b="1" dirty="0"/>
              <a:t>11.93%</a:t>
            </a:r>
            <a:r>
              <a:rPr lang="en-US" dirty="0"/>
              <a:t> (raw NMT) down to </a:t>
            </a:r>
            <a:r>
              <a:rPr lang="en-US" b="1" dirty="0"/>
              <a:t>1.08%</a:t>
            </a:r>
            <a:r>
              <a:rPr lang="en-US" dirty="0"/>
              <a:t>, keeping natural loanwords intact.</a:t>
            </a:r>
          </a:p>
          <a:p>
            <a:pPr lvl="0"/>
            <a:r>
              <a:rPr lang="en-US" b="1" dirty="0"/>
              <a:t>Open-Vocabulary Generalization:</a:t>
            </a:r>
            <a:r>
              <a:rPr lang="en-US" dirty="0"/>
              <a:t> Static dictionary filters collapse on unseen words (</a:t>
            </a:r>
            <a:r>
              <a:rPr lang="en-US" b="1" dirty="0"/>
              <a:t>0.0477 Token F1</a:t>
            </a:r>
            <a:r>
              <a:rPr lang="en-US" dirty="0"/>
              <a:t>); LAPS achieves </a:t>
            </a:r>
            <a:r>
              <a:rPr lang="en-US" b="1" dirty="0"/>
              <a:t>0.9567 Token F1</a:t>
            </a:r>
            <a:r>
              <a:rPr lang="en-US" dirty="0"/>
              <a:t> using continuous semantic vector embeddings.</a:t>
            </a:r>
          </a:p>
          <a:p>
            <a:pPr lvl="0"/>
            <a:r>
              <a:rPr lang="en-US" b="1" dirty="0"/>
              <a:t>Statistical Rigor:</a:t>
            </a:r>
            <a:r>
              <a:rPr lang="en-US" dirty="0"/>
              <a:t> Paired permutation sign-flip tests across all 100 sentences confirm LAPS's superiority is statistically significant at $\</a:t>
            </a:r>
            <a:r>
              <a:rPr lang="en-US" dirty="0" err="1"/>
              <a:t>mathbf</a:t>
            </a:r>
            <a:r>
              <a:rPr lang="en-US" dirty="0"/>
              <a:t>{p &lt; 0.001}$.</a:t>
            </a:r>
          </a:p>
          <a:p>
            <a:pPr lvl="0"/>
            <a:r>
              <a:rPr lang="en-US" b="1" dirty="0"/>
              <a:t>Inter-Annotator Agreement:</a:t>
            </a:r>
            <a:r>
              <a:rPr lang="en-US" dirty="0"/>
              <a:t> Human evaluation across 90 candidate tokens yielded </a:t>
            </a:r>
            <a:r>
              <a:rPr lang="en-US" b="1" dirty="0"/>
              <a:t>Fleiss' Kappa $\kappa = 0.8739$</a:t>
            </a:r>
            <a:r>
              <a:rPr lang="en-US" dirty="0"/>
              <a:t> (</a:t>
            </a:r>
            <a:r>
              <a:rPr lang="en-US" i="1" dirty="0"/>
              <a:t>Observed Agreement = 94.44%</a:t>
            </a:r>
            <a:r>
              <a:rPr lang="en-US" dirty="0"/>
              <a:t>), confirming "Almost Perfect Agreement" above ACL standards.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9A33B2-1925-BD20-DD94-F94ED33CFE12}"/>
              </a:ext>
            </a:extLst>
          </p:cNvPr>
          <p:cNvSpPr txBox="1"/>
          <p:nvPr/>
        </p:nvSpPr>
        <p:spPr>
          <a:xfrm>
            <a:off x="122463" y="249550"/>
            <a:ext cx="2652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Conclusion &amp; Future Plan: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655495-D191-6AED-FA79-232C07FCD0DC}"/>
              </a:ext>
            </a:extLst>
          </p:cNvPr>
          <p:cNvSpPr txBox="1"/>
          <p:nvPr/>
        </p:nvSpPr>
        <p:spPr>
          <a:xfrm>
            <a:off x="134118" y="906601"/>
            <a:ext cx="1192376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Review 2 Milestones Achieved (Implementation 85%+ Complete):</a:t>
            </a:r>
            <a:endParaRPr lang="en-US" dirty="0"/>
          </a:p>
          <a:p>
            <a:pPr lvl="1"/>
            <a:r>
              <a:rPr lang="en-US" b="1" dirty="0"/>
              <a:t>Core Problem Solved:</a:t>
            </a:r>
            <a:r>
              <a:rPr lang="en-US" dirty="0"/>
              <a:t> Demonstrated that an explainable, pre-generation guardrail prevents lexical over-translation in Hindi-English code-mixed text without retraining multi-billion parameter foundation models.</a:t>
            </a:r>
          </a:p>
          <a:p>
            <a:pPr lvl="1"/>
            <a:r>
              <a:rPr lang="en-US" b="1" dirty="0"/>
              <a:t>Corpus &amp; Graph Grounding:</a:t>
            </a:r>
            <a:r>
              <a:rPr lang="en-US" dirty="0"/>
              <a:t> Built upon </a:t>
            </a:r>
            <a:r>
              <a:rPr lang="en-US" b="1" dirty="0"/>
              <a:t>16,024 authentic sentences</a:t>
            </a:r>
            <a:r>
              <a:rPr lang="en-US" dirty="0"/>
              <a:t> (</a:t>
            </a:r>
            <a:r>
              <a:rPr lang="en-US" dirty="0" err="1"/>
              <a:t>LinCE</a:t>
            </a:r>
            <a:r>
              <a:rPr lang="en-US" dirty="0"/>
              <a:t> + PHINC) indexing </a:t>
            </a:r>
            <a:r>
              <a:rPr lang="en-US" b="1" dirty="0"/>
              <a:t>9,879 loanwords</a:t>
            </a:r>
            <a:r>
              <a:rPr lang="en-US" dirty="0"/>
              <a:t> and supported by a </a:t>
            </a:r>
            <a:r>
              <a:rPr lang="en-US" b="1" dirty="0"/>
              <a:t>2,907-node SQLite Knowledge Graph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Algorithmic Verification:</a:t>
            </a:r>
            <a:r>
              <a:rPr lang="en-US" dirty="0"/>
              <a:t> Contextual homograph disambiguation and automated register prediction implemented and fully verified with </a:t>
            </a:r>
            <a:r>
              <a:rPr lang="en-US" b="1" dirty="0"/>
              <a:t>18/18 passing tests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Empirical Validation:</a:t>
            </a:r>
            <a:r>
              <a:rPr lang="en-US" dirty="0"/>
              <a:t> Slashed Over-Translation Error Rate from </a:t>
            </a:r>
            <a:r>
              <a:rPr lang="en-US" b="1" dirty="0"/>
              <a:t>11.93%</a:t>
            </a:r>
            <a:r>
              <a:rPr lang="en-US" dirty="0"/>
              <a:t> to </a:t>
            </a:r>
            <a:r>
              <a:rPr lang="en-US" b="1" dirty="0"/>
              <a:t>1.08%</a:t>
            </a:r>
            <a:r>
              <a:rPr lang="en-US" dirty="0"/>
              <a:t> ($p &lt; 0.001$, Fleiss' Kappa = </a:t>
            </a:r>
            <a:r>
              <a:rPr lang="en-US" b="1" dirty="0"/>
              <a:t>0.8739</a:t>
            </a:r>
            <a:r>
              <a:rPr lang="en-US" dirty="0"/>
              <a:t>).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0"/>
            <a:r>
              <a:rPr lang="en-US" b="1" dirty="0"/>
              <a:t>Realistic Plan for Final Review (October 2026):</a:t>
            </a:r>
            <a:endParaRPr lang="en-US" dirty="0"/>
          </a:p>
          <a:p>
            <a:pPr lvl="1"/>
            <a:r>
              <a:rPr lang="en-US" b="1" dirty="0"/>
              <a:t>Expanded Benchmark Testing:</a:t>
            </a:r>
            <a:r>
              <a:rPr lang="en-US" dirty="0"/>
              <a:t> Enlarge the gold evaluation test corpus with additional real-world conversational sentences across diverse workplace chat scenarios.</a:t>
            </a:r>
          </a:p>
          <a:p>
            <a:pPr lvl="1"/>
            <a:r>
              <a:rPr lang="en-US" b="1" dirty="0"/>
              <a:t>Dashboard UI Polish &amp; Export Reports:</a:t>
            </a:r>
            <a:r>
              <a:rPr lang="en-US" dirty="0"/>
              <a:t> Add one-click PDF/JSON summary reporting and detailed latency profiling to the </a:t>
            </a:r>
            <a:r>
              <a:rPr lang="en-US" dirty="0" err="1"/>
              <a:t>Streamlit</a:t>
            </a:r>
            <a:r>
              <a:rPr lang="en-US" dirty="0"/>
              <a:t> web dashboard.</a:t>
            </a:r>
          </a:p>
          <a:p>
            <a:pPr lvl="1"/>
            <a:r>
              <a:rPr lang="en-US" b="1" dirty="0"/>
              <a:t>Offline Local Model Testing:</a:t>
            </a:r>
            <a:r>
              <a:rPr lang="en-US" dirty="0"/>
              <a:t> Validate constrained decoding against fully offline local </a:t>
            </a:r>
            <a:r>
              <a:rPr lang="en-US" dirty="0" err="1"/>
              <a:t>HuggingFace</a:t>
            </a:r>
            <a:r>
              <a:rPr lang="en-US" dirty="0"/>
              <a:t> sequence-to-sequence models without requiring external API access.</a:t>
            </a:r>
          </a:p>
          <a:p>
            <a:pPr lvl="1"/>
            <a:r>
              <a:rPr lang="en-US" b="1" dirty="0"/>
              <a:t>Research Paper Submission:</a:t>
            </a:r>
            <a:r>
              <a:rPr lang="en-US" dirty="0"/>
              <a:t> Finalize and submit the camera-ready research manuscript to a Scopus/IEEE-indexed venue (</a:t>
            </a:r>
            <a:r>
              <a:rPr lang="en-US" b="1" dirty="0"/>
              <a:t>ICON 2026</a:t>
            </a:r>
            <a:r>
              <a:rPr lang="en-US" dirty="0"/>
              <a:t> / </a:t>
            </a:r>
            <a:r>
              <a:rPr lang="en-US" b="1" dirty="0"/>
              <a:t>IEEE Access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14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F38FFE-FA28-877C-D3B0-DA8C87A789C3}"/>
              </a:ext>
            </a:extLst>
          </p:cNvPr>
          <p:cNvSpPr txBox="1"/>
          <p:nvPr/>
        </p:nvSpPr>
        <p:spPr>
          <a:xfrm>
            <a:off x="409622" y="378777"/>
            <a:ext cx="1295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References: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F5B7FA-8593-CB14-E9C0-23FEBC28D577}"/>
              </a:ext>
            </a:extLst>
          </p:cNvPr>
          <p:cNvSpPr txBox="1"/>
          <p:nvPr/>
        </p:nvSpPr>
        <p:spPr>
          <a:xfrm>
            <a:off x="409622" y="874573"/>
            <a:ext cx="1137275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[1] G. Aguilar, S. Kar, and T. Solorio</a:t>
            </a:r>
            <a:r>
              <a:rPr lang="en-US" dirty="0"/>
              <a:t>, "</a:t>
            </a:r>
            <a:r>
              <a:rPr lang="en-US" dirty="0" err="1"/>
              <a:t>LinCE</a:t>
            </a:r>
            <a:r>
              <a:rPr lang="en-US" dirty="0"/>
              <a:t>: A centralized benchmark for linguistic code-switching evaluation," in </a:t>
            </a:r>
            <a:r>
              <a:rPr lang="en-US" i="1" dirty="0"/>
              <a:t>Proc. 12th Lang. </a:t>
            </a:r>
            <a:r>
              <a:rPr lang="en-US" i="1" dirty="0" err="1"/>
              <a:t>Resour</a:t>
            </a:r>
            <a:r>
              <a:rPr lang="en-US" i="1" dirty="0"/>
              <a:t>. Eval. Conf. (LREC)</a:t>
            </a:r>
            <a:r>
              <a:rPr lang="en-US" dirty="0"/>
              <a:t>, Marseille, France, 2020, pp. 1803–1813.</a:t>
            </a:r>
          </a:p>
          <a:p>
            <a:r>
              <a:rPr lang="en-US" b="1" dirty="0"/>
              <a:t>[2] S. Khanuja, D. </a:t>
            </a:r>
            <a:r>
              <a:rPr lang="en-US" b="1" dirty="0" err="1"/>
              <a:t>Dandapat</a:t>
            </a:r>
            <a:r>
              <a:rPr lang="en-US" b="1" dirty="0"/>
              <a:t>, A. Srinivasan, S. Sitaram, and M. Choudhury</a:t>
            </a:r>
            <a:r>
              <a:rPr lang="en-US" dirty="0"/>
              <a:t>, "</a:t>
            </a:r>
            <a:r>
              <a:rPr lang="en-US" dirty="0" err="1"/>
              <a:t>GLUECoS</a:t>
            </a:r>
            <a:r>
              <a:rPr lang="en-US" dirty="0"/>
              <a:t>: An evaluation benchmark for code-switched NLP," in </a:t>
            </a:r>
            <a:r>
              <a:rPr lang="en-US" i="1" dirty="0"/>
              <a:t>Proc. 58th Annu. Meeting Assoc. </a:t>
            </a:r>
            <a:r>
              <a:rPr lang="en-US" i="1" dirty="0" err="1"/>
              <a:t>Comput</a:t>
            </a:r>
            <a:r>
              <a:rPr lang="en-US" i="1" dirty="0"/>
              <a:t>. Linguistics (ACL)</a:t>
            </a:r>
            <a:r>
              <a:rPr lang="en-US" dirty="0"/>
              <a:t>, Online, 2020, pp. 3575–3585.</a:t>
            </a:r>
          </a:p>
          <a:p>
            <a:r>
              <a:rPr lang="en-US" b="1" dirty="0"/>
              <a:t>[3] A. Pratapa, G. Bhat, M. Choudhury, S. Sitaram, S. </a:t>
            </a:r>
            <a:r>
              <a:rPr lang="en-US" b="1" dirty="0" err="1"/>
              <a:t>Dandapat</a:t>
            </a:r>
            <a:r>
              <a:rPr lang="en-US" b="1" dirty="0"/>
              <a:t>, and K. Bali</a:t>
            </a:r>
            <a:r>
              <a:rPr lang="en-US" dirty="0"/>
              <a:t>, "Language modeling for code-mixing: The role of linguistic theory," in </a:t>
            </a:r>
            <a:r>
              <a:rPr lang="en-US" i="1" dirty="0"/>
              <a:t>Proc. 16th Annu. Conf. N. Amer. Chapter Assoc. </a:t>
            </a:r>
            <a:r>
              <a:rPr lang="en-US" i="1" dirty="0" err="1"/>
              <a:t>Comput</a:t>
            </a:r>
            <a:r>
              <a:rPr lang="en-US" i="1" dirty="0"/>
              <a:t>. Linguistics: Hum. Lang. Technol. (NAACL-HLT)</a:t>
            </a:r>
            <a:r>
              <a:rPr lang="en-US" dirty="0"/>
              <a:t>, New Orleans, LA, USA, 2018, pp. 1543–1553.</a:t>
            </a:r>
          </a:p>
          <a:p>
            <a:r>
              <a:rPr lang="en-US" b="1" dirty="0"/>
              <a:t>[4] M. T. Ribeiro, S. Singh, and C. </a:t>
            </a:r>
            <a:r>
              <a:rPr lang="en-US" b="1" dirty="0" err="1"/>
              <a:t>Guestrin</a:t>
            </a:r>
            <a:r>
              <a:rPr lang="en-US" dirty="0"/>
              <a:t>, '"Why should I trust you?": Explaining the predictions of any classifier,' in </a:t>
            </a:r>
            <a:r>
              <a:rPr lang="en-US" i="1" dirty="0"/>
              <a:t>Proc. 22nd ACM SIGKDD Int. Conf. </a:t>
            </a:r>
            <a:r>
              <a:rPr lang="en-US" i="1" dirty="0" err="1"/>
              <a:t>Knowl</a:t>
            </a:r>
            <a:r>
              <a:rPr lang="en-US" i="1" dirty="0"/>
              <a:t>. Discovery Data Mining (KDD)</a:t>
            </a:r>
            <a:r>
              <a:rPr lang="en-US" dirty="0"/>
              <a:t>, San Francisco, CA, USA, 2016, pp. 1135–1144.</a:t>
            </a:r>
          </a:p>
          <a:p>
            <a:r>
              <a:rPr lang="en-US" b="1" dirty="0"/>
              <a:t>[5] P. Srivastava, H. Tanwar, and M. S. Akhtar</a:t>
            </a:r>
            <a:r>
              <a:rPr lang="en-US" dirty="0"/>
              <a:t>, "Evaluating large language models on Hinglish code-mixed text normalization," </a:t>
            </a:r>
            <a:r>
              <a:rPr lang="en-US" i="1" dirty="0"/>
              <a:t>IEEE Access</a:t>
            </a:r>
            <a:r>
              <a:rPr lang="en-US" dirty="0"/>
              <a:t>, vol. 12, pp. 41200–41215, 2024, </a:t>
            </a:r>
            <a:r>
              <a:rPr lang="en-US" dirty="0" err="1"/>
              <a:t>doi</a:t>
            </a:r>
            <a:r>
              <a:rPr lang="en-US" dirty="0"/>
              <a:t>: 10.1109/ACCESS.2024.3375812.</a:t>
            </a:r>
          </a:p>
          <a:p>
            <a:r>
              <a:rPr lang="en-US" b="1" dirty="0"/>
              <a:t>[6] C. Hokamp and Q. Liu</a:t>
            </a:r>
            <a:r>
              <a:rPr lang="en-US" dirty="0"/>
              <a:t>, "Lexically constrained decoding for sequence generation using grid beam search," in </a:t>
            </a:r>
            <a:r>
              <a:rPr lang="en-US" i="1" dirty="0"/>
              <a:t>Proc. 55th Annu. Meeting Assoc. </a:t>
            </a:r>
            <a:r>
              <a:rPr lang="en-US" i="1" dirty="0" err="1"/>
              <a:t>Comput</a:t>
            </a:r>
            <a:r>
              <a:rPr lang="en-US" i="1" dirty="0"/>
              <a:t>. Linguistics (ACL)</a:t>
            </a:r>
            <a:r>
              <a:rPr lang="en-US" dirty="0"/>
              <a:t>, Vancouver, Canada, 2017, pp. 1535–1546.</a:t>
            </a:r>
          </a:p>
          <a:p>
            <a:r>
              <a:rPr lang="en-US" b="1" dirty="0"/>
              <a:t>[7] M. Post and D. Vilar</a:t>
            </a:r>
            <a:r>
              <a:rPr lang="en-US" dirty="0"/>
              <a:t>, "Fast lexically constrained decoding with dynamic beam allocation for neural machine translation," in </a:t>
            </a:r>
            <a:r>
              <a:rPr lang="en-US" i="1" dirty="0"/>
              <a:t>Proc. 16th Annu. Conf. N. Amer. Chapter Assoc. </a:t>
            </a:r>
            <a:r>
              <a:rPr lang="en-US" i="1" dirty="0" err="1"/>
              <a:t>Comput</a:t>
            </a:r>
            <a:r>
              <a:rPr lang="en-US" i="1" dirty="0"/>
              <a:t>. Linguistics: Hum. Lang. Technol. (NAACL-HLT)</a:t>
            </a:r>
            <a:r>
              <a:rPr lang="en-US" dirty="0"/>
              <a:t>, New Orleans, LA, USA, 2018, pp. 1314–1324.</a:t>
            </a:r>
          </a:p>
          <a:p>
            <a:r>
              <a:rPr lang="en-US" b="1" dirty="0"/>
              <a:t>[8] M. Mave, S. Maharjan, and T. Solorio</a:t>
            </a:r>
            <a:r>
              <a:rPr lang="en-US" dirty="0"/>
              <a:t>, "Language identification and analysis of code-switched social media text," in </a:t>
            </a:r>
            <a:r>
              <a:rPr lang="en-US" i="1" dirty="0"/>
              <a:t>Proc. 16th Annu. Conf. N. Amer. Chapter Assoc. </a:t>
            </a:r>
            <a:r>
              <a:rPr lang="en-US" i="1" dirty="0" err="1"/>
              <a:t>Comput</a:t>
            </a:r>
            <a:r>
              <a:rPr lang="en-US" i="1" dirty="0"/>
              <a:t>. Linguistics: Hum. Lang. Technol. (NAACL-HLT)</a:t>
            </a:r>
            <a:r>
              <a:rPr lang="en-US" dirty="0"/>
              <a:t>, New Orleans, LA, USA, 2018, pp. 440–445.</a:t>
            </a:r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2967</Words>
  <Application>Microsoft Office PowerPoint</Application>
  <PresentationFormat>Widescreen</PresentationFormat>
  <Paragraphs>259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Segoe WPC</vt:lpstr>
      <vt:lpstr>Times New Roman</vt:lpstr>
      <vt:lpstr>Office Theme</vt:lpstr>
      <vt:lpstr>PowerPoint Presentation</vt:lpstr>
      <vt:lpstr>Approval Mail From Guide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ISHAN TARE</cp:lastModifiedBy>
  <cp:revision>10</cp:revision>
  <dcterms:created xsi:type="dcterms:W3CDTF">2026-07-14T06:00:41Z</dcterms:created>
  <dcterms:modified xsi:type="dcterms:W3CDTF">2026-09-03T06:04:33Z</dcterms:modified>
</cp:coreProperties>
</file>
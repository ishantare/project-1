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6"/>
  </p:notesMasterIdLst>
  <p:sldIdLst>
    <p:sldId id="256" r:id="rId2"/>
    <p:sldId id="263" r:id="rId3"/>
    <p:sldId id="257" r:id="rId4"/>
    <p:sldId id="258" r:id="rId5"/>
    <p:sldId id="260" r:id="rId6"/>
    <p:sldId id="259" r:id="rId7"/>
    <p:sldId id="269" r:id="rId8"/>
    <p:sldId id="261" r:id="rId9"/>
    <p:sldId id="264" r:id="rId10"/>
    <p:sldId id="265" r:id="rId11"/>
    <p:sldId id="266" r:id="rId12"/>
    <p:sldId id="267" r:id="rId13"/>
    <p:sldId id="268" r:id="rId14"/>
    <p:sldId id="26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4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58E2E1-8886-43B2-B986-F2B06DAA2FAC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59FDF3-42B5-4A41-B75E-186C389084C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9858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592BF-19BE-9BF0-E2FC-07A36D054E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3AB4F9-CBB3-B18D-E917-C3B064186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F18A0-E201-1900-A139-E830DD3EA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E78AE-7F97-4550-9DD8-BF69171FDC30}" type="datetime1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0906B9-B1F6-B52E-2EE0-7595B1EBF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A13AE1-F96E-D540-8DE1-8D903DB3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5197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2F7EA-3EC9-99AF-13A9-22A3F8B2D2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71419B-73DB-15DA-D2EE-0FC01B435F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80259-8D20-E29B-4DC5-312C3DB0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01830E-3502-194A-88FA-DC3E0F1B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6703C-229C-43C6-0484-38EC263AD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3990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CE344-6494-09A6-A5E4-811EEE0CD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51A0E2-2B9B-B96E-A3FD-0B26BDDBE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7CE67-8E8A-4D0D-42DF-DDC842B1B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22BD8-A2C4-424B-809A-C64DDCC305D9}" type="datetime1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78C3E-C139-1FD1-979B-D7167995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32F297-889B-B694-6DD5-92F8A6AAF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814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2C89C-FEA2-11F6-7988-ADD14A7B2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5DE7B-A406-1142-36EA-1C14987402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355A2B-361E-86CB-ABBE-C510D2B22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DA5E84-A1E0-A1C4-F7E6-DA9E7B124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0F4BC-B3A4-46AF-9AEC-8478EF1369D5}" type="datetime1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DA460-54C8-F2AC-C053-53FF3FAFC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6F132A-BD40-58D2-CEEC-A1BA2B9E2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8223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823BE-2514-8722-ED45-41E13E46B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BFEE3B-6ABA-1D24-97FE-717EBBC999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653C42-4C6D-988F-42A0-8639A508A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B662B4-F942-A78F-394F-74F603717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445FBE-A81E-92E1-36E3-99D1586F83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D20C02-77C2-CB2A-62F8-60B8C6262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9A2993-B405-4F4D-B968-A01C27211659}" type="datetime1">
              <a:rPr lang="en-IN" smtClean="0"/>
              <a:t>09-09-2026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033241-EB08-777E-F678-5D641F649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D711ED-181F-C690-A3B3-1D82670FC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9272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468B4-E355-69B3-7598-80ADF2F9C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F1AB3B-AFC6-3627-62E6-22313061F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378C8C-5FBB-4DD7-A06D-BE263480794B}" type="datetime1">
              <a:rPr lang="en-IN" smtClean="0"/>
              <a:t>09-09-2026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2C6591-48E4-480E-7965-DE9F83015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0C9D68-A16A-B2D3-C8A6-B5221AF74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5061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3F289A-3AD7-C11D-1594-90A35E592B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D2985-06EC-459B-80C8-F6F4362A1C03}" type="datetime1">
              <a:rPr lang="en-IN" smtClean="0"/>
              <a:t>09-09-2026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252269-BBE3-199F-299B-38D4E9CC1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07FDC-B2A9-1304-047F-5808A0B6B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265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A4847-FC20-D9BF-0BDE-26EC7EF74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D9C584-AC19-D7B4-9DFE-7C1BC2E1B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4A3262-CE8D-2419-DCCC-C536E9FDAC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4758D6-7AF2-29C5-E0EE-3B7BE155E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D7E9DA-13C6-48A4-9305-B592482DE8CE}" type="datetime1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AC7E7-68C4-7616-2DE1-0333E2C44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9EF51B-1685-66FF-0783-23584C251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387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39D0E-3A71-7252-C837-B8281F0DE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E3D557-6893-299F-57A8-A7B173F101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CC8BA2-BB08-F4E3-5660-C7370BA56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57E1CE-C7CA-966D-8661-1E99A7DA2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E7C4B-C575-4DCF-9B63-045662930500}" type="datetime1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055516-3E64-07E5-10C5-DE056657E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BA5AD5-9867-E76D-C035-2856CCFB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0017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1D7EC-16EA-5009-5D33-ABFC55F28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09EC6D-8ED5-29E9-9444-CC2D6A1CB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ADFC6-7CEA-ABEE-94C2-870B1E657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6931C-EA1A-43DD-B3B3-66F5BA587712}" type="datetime1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1FA3A5-596E-6C2A-F853-30C5DC6FB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CE6B1-CE87-B68F-9494-FA6D109F3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98095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F0FF105-FC99-2BCB-131F-2B902F8BA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354FD6-064F-6E12-E8DE-81EC913CDB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D2109-32D1-4A0F-F903-5142A204E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9B0E1-7C95-4C20-B9C6-BA51F388E878}" type="datetime1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5353D-EEF9-CF3C-A97F-F0F0EBFA7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2F1DC-3958-BCDE-9A16-88E928E7E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3540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5454249-E28B-CF91-F4A6-9762E4F38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E3D641-7C66-CA7D-30A7-7F95AC27E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E1D408-B228-838E-3E43-4304680A5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827C3E-786B-4150-9177-1C28966A2ADC}" type="datetime1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EC7A69-1922-F157-900C-FF95668316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B80E76-E345-1553-9664-0BCF569B55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201FD4-9D8D-4491-815B-63C7BF4F00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84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clanthology.org/2020.acl-main.329.pdf" TargetMode="External"/><Relationship Id="rId2" Type="http://schemas.openxmlformats.org/officeDocument/2006/relationships/hyperlink" Target="https://aclanthology.org/2020.lrec-1.223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clanthology.org/2026.findings-eacl.291.pdf" TargetMode="External"/><Relationship Id="rId4" Type="http://schemas.openxmlformats.org/officeDocument/2006/relationships/hyperlink" Target="https://aclanthology.org/2025.findings-emnlp.422.pdf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clanthology.org/P17-1141.pdf" TargetMode="External"/><Relationship Id="rId2" Type="http://schemas.openxmlformats.org/officeDocument/2006/relationships/hyperlink" Target="https://aclanthology.org/2020.wnut-1.7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aclanthology.org/W18-3206.pdf" TargetMode="External"/><Relationship Id="rId4" Type="http://schemas.openxmlformats.org/officeDocument/2006/relationships/hyperlink" Target="https://aclanthology.org/N18-1119.pdf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5F2F40B-4E56-7E8E-3F33-16000CB7E6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7236" y="-11493"/>
            <a:ext cx="4517528" cy="1871634"/>
          </a:xfrm>
          <a:prstGeom prst="rect">
            <a:avLst/>
          </a:prstGeom>
        </p:spPr>
      </p:pic>
      <p:sp>
        <p:nvSpPr>
          <p:cNvPr id="12" name="Title 6">
            <a:extLst>
              <a:ext uri="{FF2B5EF4-FFF2-40B4-BE49-F238E27FC236}">
                <a16:creationId xmlns:a16="http://schemas.microsoft.com/office/drawing/2014/main" id="{3EC1CFA8-E77D-0C65-2A17-B68688C22660}"/>
              </a:ext>
            </a:extLst>
          </p:cNvPr>
          <p:cNvSpPr txBox="1">
            <a:spLocks/>
          </p:cNvSpPr>
          <p:nvPr/>
        </p:nvSpPr>
        <p:spPr>
          <a:xfrm>
            <a:off x="1907459" y="1934141"/>
            <a:ext cx="8924544" cy="1089529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b">
            <a:sp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1800" b="1"/>
            </a:pPr>
            <a:r>
              <a:rPr lang="en-US" sz="1800" b="1"/>
              <a:t>B.Tech CSE | BCSE497J – Project 1 (Review 1)</a:t>
            </a:r>
          </a:p>
          <a:p>
            <a:pPr>
              <a:defRPr sz="2200" b="1">
                <a:solidFill>
                  <a:srgbClr val="003366"/>
                </a:solidFill>
              </a:defRPr>
            </a:pPr>
            <a:r>
              <a:rPr lang="en-US" sz="2200" b="1">
                <a:solidFill>
                  <a:srgbClr val="003366"/>
                </a:solidFill>
              </a:rPr>
              <a:t>LAPS: Linguistic Adaptive Preservation Scoring for Explainable Token-Level Decision Making in Code-Mixed Text Rewriting</a:t>
            </a:r>
          </a:p>
        </p:txBody>
      </p:sp>
      <p:sp>
        <p:nvSpPr>
          <p:cNvPr id="13" name="object 3">
            <a:extLst>
              <a:ext uri="{FF2B5EF4-FFF2-40B4-BE49-F238E27FC236}">
                <a16:creationId xmlns:a16="http://schemas.microsoft.com/office/drawing/2014/main" id="{FBC8D56B-F89A-6745-F127-6E8A7DAF5168}"/>
              </a:ext>
            </a:extLst>
          </p:cNvPr>
          <p:cNvSpPr txBox="1"/>
          <p:nvPr/>
        </p:nvSpPr>
        <p:spPr>
          <a:xfrm>
            <a:off x="2609088" y="3208471"/>
            <a:ext cx="7071360" cy="24750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00"/>
              </a:spcBef>
              <a:defRPr sz="1500"/>
            </a:pPr>
            <a:r>
              <a:rPr sz="2000" b="1" dirty="0"/>
              <a:t>Team Members:</a:t>
            </a:r>
            <a:br>
              <a:rPr dirty="0"/>
            </a:br>
            <a:r>
              <a:rPr dirty="0"/>
              <a:t>• Ishan Tare	(23BCE0603)</a:t>
            </a:r>
            <a:br>
              <a:rPr dirty="0"/>
            </a:br>
            <a:r>
              <a:rPr dirty="0"/>
              <a:t>• Aryan Chopra	(23BCI0144)</a:t>
            </a:r>
            <a:br>
              <a:rPr dirty="0"/>
            </a:br>
            <a:r>
              <a:rPr dirty="0"/>
              <a:t>• Sarth Joshi	(23BCE0384)</a:t>
            </a:r>
            <a:endParaRPr lang="en-US" dirty="0"/>
          </a:p>
          <a:p>
            <a:pPr>
              <a:lnSpc>
                <a:spcPct val="100000"/>
              </a:lnSpc>
              <a:spcBef>
                <a:spcPts val="200"/>
              </a:spcBef>
              <a:defRPr sz="1500"/>
            </a:pPr>
            <a:endParaRPr lang="en-US" dirty="0"/>
          </a:p>
          <a:p>
            <a:pPr>
              <a:lnSpc>
                <a:spcPct val="100000"/>
              </a:lnSpc>
              <a:spcBef>
                <a:spcPts val="200"/>
              </a:spcBef>
              <a:defRPr sz="1500"/>
            </a:pPr>
            <a:r>
              <a:rPr lang="en-IN" sz="2000" b="1" dirty="0"/>
              <a:t>Project ID: 20165UG02</a:t>
            </a:r>
          </a:p>
          <a:p>
            <a:pPr>
              <a:lnSpc>
                <a:spcPct val="100000"/>
              </a:lnSpc>
              <a:spcBef>
                <a:spcPts val="200"/>
              </a:spcBef>
              <a:defRPr sz="1500"/>
            </a:pPr>
            <a:br>
              <a:rPr sz="2000" b="1" dirty="0"/>
            </a:br>
            <a:r>
              <a:rPr sz="2000" b="1" dirty="0"/>
              <a:t>Faculty Guide:</a:t>
            </a:r>
            <a:br>
              <a:rPr dirty="0"/>
            </a:br>
            <a:r>
              <a:rPr dirty="0"/>
              <a:t>• Dr. Saurabh Agarwal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AE5DB8-1DD3-69B5-D4BA-1335807E4E99}"/>
              </a:ext>
            </a:extLst>
          </p:cNvPr>
          <p:cNvSpPr txBox="1"/>
          <p:nvPr/>
        </p:nvSpPr>
        <p:spPr>
          <a:xfrm>
            <a:off x="230588" y="278296"/>
            <a:ext cx="18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036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CBE13-A9D6-9564-DA47-597E38E09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Approval Mail From Guide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3367C-DAD6-6E34-D21A-A981C0944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i="1" dirty="0">
                <a:highlight>
                  <a:srgbClr val="FFFF00"/>
                </a:highlight>
              </a:rPr>
              <a:t>Get the approval for the following points from your guide through mail before  01-09-2026.(sample attached below)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827C50-3ED3-2DB6-C227-6784C6CA9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09-09-2026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64170-792F-28F8-1C31-5F7A8D69F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16528B-72DB-0275-6A94-33ABB5CD7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2</a:t>
            </a:fld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CFF88D1-7A15-E122-39FA-9C7DA1DFC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505" y="2702643"/>
            <a:ext cx="11381493" cy="3296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560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79E6AA7-AE20-8A91-BA42-261BF76A2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736562-4E3F-4038-A291-A7AE35CC3E6A}" type="datetime1">
              <a:rPr lang="en-IN" smtClean="0"/>
              <a:t>09-09-2026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7FE434-77F0-B8BE-9198-66090332F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D6A9DA-AEE9-F6FE-EFA8-06396314F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3</a:t>
            </a:fld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11517B-9ACE-E37B-73DA-C616F06D4408}"/>
              </a:ext>
            </a:extLst>
          </p:cNvPr>
          <p:cNvSpPr txBox="1"/>
          <p:nvPr/>
        </p:nvSpPr>
        <p:spPr>
          <a:xfrm>
            <a:off x="283775" y="197346"/>
            <a:ext cx="1162445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Project Aim:</a:t>
            </a:r>
          </a:p>
          <a:p>
            <a:endParaRPr lang="en-US" sz="2000" dirty="0"/>
          </a:p>
          <a:p>
            <a:r>
              <a:rPr lang="en-US" dirty="0"/>
              <a:t>To design, develop, and empirically validate an explainable, token-level pre-generation decision framework (LAPS) that eliminates lexical over-translation in code-mixed text rewriting by adaptively scoring English loanword preservation across multi-factor linguistic vectors, with automated register inference and contextual homograph disambiguation.</a:t>
            </a:r>
          </a:p>
          <a:p>
            <a:endParaRPr lang="en-US" dirty="0"/>
          </a:p>
          <a:p>
            <a:r>
              <a:rPr lang="en-US" sz="2000" b="1" dirty="0"/>
              <a:t>Project Scope:</a:t>
            </a:r>
          </a:p>
          <a:p>
            <a:endParaRPr lang="en-US" sz="2000" dirty="0"/>
          </a:p>
          <a:p>
            <a:pPr lvl="0"/>
            <a:r>
              <a:rPr lang="en-US" b="1" dirty="0"/>
              <a:t>Language Pair &amp; Domain: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/>
              <a:t>Primary focus on </a:t>
            </a:r>
            <a:r>
              <a:rPr lang="en-US" sz="1600" b="1" dirty="0"/>
              <a:t>Romanized Hindi-English ("Hinglish")</a:t>
            </a:r>
            <a:r>
              <a:rPr lang="en-US" sz="1600" dirty="0"/>
              <a:t> text transitioning to formal English or standard Hindi across </a:t>
            </a:r>
            <a:r>
              <a:rPr lang="en-US" sz="1600" b="1" dirty="0"/>
              <a:t>Tech, Academic, Business, and Social</a:t>
            </a:r>
            <a:r>
              <a:rPr lang="en-US" sz="1600" dirty="0"/>
              <a:t> domains.</a:t>
            </a:r>
          </a:p>
          <a:p>
            <a:pPr lvl="0"/>
            <a:r>
              <a:rPr lang="en-US" b="1" dirty="0"/>
              <a:t>Empirical Corpus Grounding: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/>
              <a:t>Grounded on </a:t>
            </a:r>
            <a:r>
              <a:rPr lang="en-US" sz="1600" b="1" dirty="0"/>
              <a:t>16,024 authentic code-mixed sentences</a:t>
            </a:r>
            <a:r>
              <a:rPr lang="en-US" sz="1600" dirty="0"/>
              <a:t> from the </a:t>
            </a:r>
            <a:r>
              <a:rPr lang="en-US" sz="1600" b="1" dirty="0" err="1"/>
              <a:t>LinCE</a:t>
            </a:r>
            <a:r>
              <a:rPr lang="en-US" sz="1600" dirty="0"/>
              <a:t> (ACL 2020) and </a:t>
            </a:r>
            <a:r>
              <a:rPr lang="en-US" sz="1600" b="1" dirty="0"/>
              <a:t>PHINC</a:t>
            </a:r>
            <a:r>
              <a:rPr lang="en-US" sz="1600" dirty="0"/>
              <a:t> benchmarks, indexing </a:t>
            </a:r>
            <a:r>
              <a:rPr lang="en-US" sz="1600" b="1" dirty="0"/>
              <a:t>9,879 unique English loanwords</a:t>
            </a:r>
            <a:r>
              <a:rPr lang="en-US" sz="1600" dirty="0"/>
              <a:t> with continuous borrowing propensity scores.</a:t>
            </a:r>
          </a:p>
          <a:p>
            <a:pPr lvl="0"/>
            <a:r>
              <a:rPr lang="en-US" b="1" dirty="0"/>
              <a:t>Pre-Generation Pipeline: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/>
              <a:t>Encompasses </a:t>
            </a:r>
            <a:r>
              <a:rPr lang="en-US" sz="1600" dirty="0" err="1"/>
              <a:t>subword</a:t>
            </a:r>
            <a:r>
              <a:rPr lang="en-US" sz="1600" dirty="0"/>
              <a:t> Language Identification (LID), contextual Latin-script homograph disambiguation (</a:t>
            </a:r>
            <a:r>
              <a:rPr lang="en-US" sz="1600" i="1" dirty="0"/>
              <a:t>us, me, so, do, to, is</a:t>
            </a:r>
            <a:r>
              <a:rPr lang="en-US" sz="1600" dirty="0"/>
              <a:t>), a </a:t>
            </a:r>
            <a:r>
              <a:rPr lang="en-US" sz="1600" b="1" dirty="0"/>
              <a:t>2,907-node SQLite Knowledge Graph</a:t>
            </a:r>
            <a:r>
              <a:rPr lang="en-US" sz="1600" dirty="0"/>
              <a:t>, 6 linguistic feature vectors, and a </a:t>
            </a:r>
            <a:r>
              <a:rPr lang="en-US" sz="1600" b="1" dirty="0"/>
              <a:t>Soft Sigmoid</a:t>
            </a:r>
            <a:r>
              <a:rPr lang="en-US" sz="1600" dirty="0"/>
              <a:t> dynamic threshold boundary</a:t>
            </a:r>
          </a:p>
          <a:p>
            <a:pPr lvl="0"/>
            <a:r>
              <a:rPr lang="en-US" b="1" dirty="0"/>
              <a:t>Guarded Output &amp; Auditability: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/>
              <a:t>Compiles machine-</a:t>
            </a:r>
            <a:r>
              <a:rPr lang="en-US" sz="1600" dirty="0" err="1"/>
              <a:t>parseable</a:t>
            </a:r>
            <a:r>
              <a:rPr lang="en-US" sz="1600" dirty="0"/>
              <a:t> </a:t>
            </a:r>
            <a:r>
              <a:rPr lang="en-US" sz="1600" b="1" dirty="0"/>
              <a:t>XML preservation constraints</a:t>
            </a:r>
            <a:r>
              <a:rPr lang="en-US" sz="1600" dirty="0"/>
              <a:t> that strictly guide downstream decoders (LLMs / NMT) and generates transparent, exportable token-level mathematical audit trails.</a:t>
            </a:r>
          </a:p>
          <a:p>
            <a:pPr lvl="0"/>
            <a:r>
              <a:rPr lang="en-US" b="1" dirty="0"/>
              <a:t>Boundaries &amp; Exclusions: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Ø"/>
            </a:pPr>
            <a:r>
              <a:rPr lang="en-US" sz="1600" dirty="0"/>
              <a:t>Targets conversational Romanized code-mixing (the primary chat modality for 500M+ users); native Indic script morphological segmentation and speech-to-text processing are reserved for future work.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35188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D95E8-8D7C-F548-8B75-23C3B2B15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C3D067F-DF0A-3BD2-0B9E-C22E39B7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61D5D-2F82-4210-B67C-C3AADE7FED47}" type="datetime1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EFD8C3-C2D0-4BBB-7FD8-43FE2C08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9991A-41D4-F0AB-EF39-ACE70C81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4</a:t>
            </a:fld>
            <a:endParaRPr lang="en-IN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14F77A-0A5F-9F5F-DCF2-9E571CEC214E}"/>
              </a:ext>
            </a:extLst>
          </p:cNvPr>
          <p:cNvSpPr txBox="1"/>
          <p:nvPr/>
        </p:nvSpPr>
        <p:spPr>
          <a:xfrm>
            <a:off x="234682" y="906601"/>
            <a:ext cx="11722636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/>
              <a:t>The Problem (Lexical Over-Translation):</a:t>
            </a:r>
            <a:br>
              <a:rPr lang="en-US" dirty="0"/>
            </a:br>
            <a:r>
              <a:rPr lang="en-US" dirty="0"/>
              <a:t>In conversational code-mixed communication (such as Hinglish), speakers naturally borrow English terms (</a:t>
            </a:r>
            <a:r>
              <a:rPr lang="en-US" i="1" dirty="0"/>
              <a:t>meeting, server, client, viva, link</a:t>
            </a:r>
            <a:r>
              <a:rPr lang="en-US" dirty="0"/>
              <a:t>). Modern LLMs and Neural Machine Translation engines systematically over-translate these entrenched loanwords into archaic, unnatural equivalents (</a:t>
            </a:r>
            <a:r>
              <a:rPr lang="en-US" i="1" dirty="0"/>
              <a:t>baithak, sevak, </a:t>
            </a:r>
            <a:r>
              <a:rPr lang="en-US" i="1" dirty="0" err="1"/>
              <a:t>grahak</a:t>
            </a:r>
            <a:r>
              <a:rPr lang="en-US" i="1" dirty="0"/>
              <a:t>, kadi</a:t>
            </a:r>
            <a:r>
              <a:rPr lang="en-US" dirty="0"/>
              <a:t>), degrading conversational fluency.</a:t>
            </a:r>
          </a:p>
          <a:p>
            <a:pPr lvl="0"/>
            <a:endParaRPr lang="en-US" dirty="0"/>
          </a:p>
          <a:p>
            <a:pPr lvl="0"/>
            <a:r>
              <a:rPr lang="en-US" b="1" dirty="0"/>
              <a:t>Limitations of Existing Approaches:</a:t>
            </a:r>
            <a:br>
              <a:rPr lang="en-US" dirty="0"/>
            </a:br>
            <a:r>
              <a:rPr lang="en-US" dirty="0"/>
              <a:t>Prompt-based instructions in commercial LLMs suffer from non-deterministic drift and lack auditability, while static dictionary lookups fail completely when encountering unseen technical or domain-specific vocabulary.</a:t>
            </a:r>
          </a:p>
          <a:p>
            <a:pPr lvl="0"/>
            <a:endParaRPr lang="en-US" dirty="0"/>
          </a:p>
          <a:p>
            <a:pPr lvl="0"/>
            <a:r>
              <a:rPr lang="en-US" b="1" dirty="0"/>
              <a:t>Proposed Solution (LAPS Guardrail):</a:t>
            </a:r>
            <a:br>
              <a:rPr lang="en-US" dirty="0"/>
            </a:br>
            <a:r>
              <a:rPr lang="en-US" dirty="0"/>
              <a:t>We introduce </a:t>
            </a:r>
            <a:r>
              <a:rPr lang="en-US" b="1" dirty="0"/>
              <a:t>LAPS (Linguistic Adaptive Preservation Scoring)</a:t>
            </a:r>
            <a:r>
              <a:rPr lang="en-US" dirty="0"/>
              <a:t>, an explainable pre-generation neuro-symbolic guardrail. Positioned upstream of text generation, LAPS evaluates candidate tokens across a multi-dimensional linguistic hierarchy, resolves ambiguous Romanized homographs in context, auto-infers conversational formality registers, and compiles machine-verifiable XML constraints.</a:t>
            </a:r>
          </a:p>
          <a:p>
            <a:pPr lvl="0"/>
            <a:endParaRPr lang="en-US" dirty="0"/>
          </a:p>
          <a:p>
            <a:pPr lvl="0"/>
            <a:r>
              <a:rPr lang="en-US" b="1" dirty="0"/>
              <a:t>Validated Outcome &amp; Impact:</a:t>
            </a:r>
            <a:br>
              <a:rPr lang="en-US" dirty="0"/>
            </a:br>
            <a:r>
              <a:rPr lang="en-US" dirty="0"/>
              <a:t>Empirically grounded on authentic benchmark corpora and a bilingual Knowledge Graph, LAPS virtually eliminates over-translation while maintaining natural sentence fluency. It provides enterprise-ready transparency through token-level mathematical audit trails without requiring costly model retraining.</a:t>
            </a: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6BA3F4F-46A5-94E1-C402-10BA377B52B6}"/>
              </a:ext>
            </a:extLst>
          </p:cNvPr>
          <p:cNvSpPr txBox="1"/>
          <p:nvPr/>
        </p:nvSpPr>
        <p:spPr>
          <a:xfrm>
            <a:off x="234682" y="317607"/>
            <a:ext cx="11430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Abstract:</a:t>
            </a:r>
          </a:p>
        </p:txBody>
      </p:sp>
    </p:spTree>
    <p:extLst>
      <p:ext uri="{BB962C8B-B14F-4D97-AF65-F5344CB8AC3E}">
        <p14:creationId xmlns:p14="http://schemas.microsoft.com/office/powerpoint/2010/main" val="3453097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64C5E-26B3-2EE9-895A-F822E4C49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430A72-466B-CBDE-2F02-635BA91A9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AE986A-8308-4C4E-A0F3-DDD9B5B25762}" type="datetime1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1DDA3-7A7C-1F61-1795-3A01ED678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E3226-1DB1-3A4D-CE37-4A2AD48EF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5</a:t>
            </a:fld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3B4753-E48A-674A-0DDE-981FF7309F73}"/>
              </a:ext>
            </a:extLst>
          </p:cNvPr>
          <p:cNvSpPr txBox="1"/>
          <p:nvPr/>
        </p:nvSpPr>
        <p:spPr>
          <a:xfrm>
            <a:off x="160351" y="966053"/>
            <a:ext cx="11871297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/>
              <a:t>1. Absence of an Upstream Decision Engine for Constrained Decoding</a:t>
            </a:r>
            <a:endParaRPr lang="en-US" dirty="0"/>
          </a:p>
          <a:p>
            <a:pPr lvl="1"/>
            <a:r>
              <a:rPr lang="en-US" sz="1600" b="1" dirty="0"/>
              <a:t>Gap:</a:t>
            </a:r>
            <a:r>
              <a:rPr lang="en-US" sz="1600" dirty="0"/>
              <a:t> Existing constrained decoding algorithms (</a:t>
            </a:r>
            <a:r>
              <a:rPr lang="en-US" sz="1600" i="1" dirty="0"/>
              <a:t>Hokamp &amp; Liu, Post &amp; Vilar</a:t>
            </a:r>
            <a:r>
              <a:rPr lang="en-US" sz="1600" dirty="0"/>
              <a:t>) can strictly enforce token preservation, but they </a:t>
            </a:r>
            <a:r>
              <a:rPr lang="en-US" sz="1600" b="1" dirty="0"/>
              <a:t>require a static, pre-defined glossary</a:t>
            </a:r>
            <a:r>
              <a:rPr lang="en-US" sz="1600" dirty="0"/>
              <a:t>.</a:t>
            </a:r>
          </a:p>
          <a:p>
            <a:pPr lvl="1"/>
            <a:r>
              <a:rPr lang="en-US" sz="1600" b="1" dirty="0"/>
              <a:t>Limitation:</a:t>
            </a:r>
            <a:r>
              <a:rPr lang="en-US" sz="1600" dirty="0"/>
              <a:t> No prior framework dynamically evaluates conversational context to decide </a:t>
            </a:r>
            <a:r>
              <a:rPr lang="en-US" sz="1600" i="1" dirty="0"/>
              <a:t>which</a:t>
            </a:r>
            <a:r>
              <a:rPr lang="en-US" sz="1600" dirty="0"/>
              <a:t> loanwords should be preserved and </a:t>
            </a:r>
            <a:r>
              <a:rPr lang="en-US" sz="1600" i="1" dirty="0"/>
              <a:t>which</a:t>
            </a:r>
            <a:r>
              <a:rPr lang="en-US" sz="1600" dirty="0"/>
              <a:t> should be translated.</a:t>
            </a:r>
          </a:p>
          <a:p>
            <a:pPr lvl="0"/>
            <a:r>
              <a:rPr lang="en-US" b="1" dirty="0"/>
              <a:t>2. Severe Lexical Over-Translation in Generative LLMs</a:t>
            </a:r>
            <a:endParaRPr lang="en-US" dirty="0"/>
          </a:p>
          <a:p>
            <a:pPr lvl="1"/>
            <a:r>
              <a:rPr lang="en-US" sz="1600" b="1" dirty="0"/>
              <a:t>Gap:</a:t>
            </a:r>
            <a:r>
              <a:rPr lang="en-US" sz="1600" dirty="0"/>
              <a:t> Multilingual LLMs (GPT-4, Llama 3) and NMT models exhibit a strong monolingual target bias, translating natural borrowings (</a:t>
            </a:r>
            <a:r>
              <a:rPr lang="en-US" sz="1600" i="1" dirty="0"/>
              <a:t>meeting , baithak, client ,</a:t>
            </a:r>
            <a:r>
              <a:rPr lang="en-US" sz="1600" i="1" dirty="0" err="1"/>
              <a:t>grahak</a:t>
            </a:r>
            <a:r>
              <a:rPr lang="en-US" sz="1600" i="1" dirty="0"/>
              <a:t>, link ,kadi</a:t>
            </a:r>
            <a:r>
              <a:rPr lang="en-US" sz="1600" dirty="0"/>
              <a:t>).</a:t>
            </a:r>
          </a:p>
          <a:p>
            <a:pPr lvl="1"/>
            <a:r>
              <a:rPr lang="en-US" sz="1600" b="1" dirty="0"/>
              <a:t>Limitation:</a:t>
            </a:r>
            <a:r>
              <a:rPr lang="en-US" sz="1600" dirty="0"/>
              <a:t> Raw unconstrained translation yields an </a:t>
            </a:r>
            <a:r>
              <a:rPr lang="en-US" sz="1600" b="1" dirty="0"/>
              <a:t>11.93% Over-Translation Error Rate</a:t>
            </a:r>
            <a:r>
              <a:rPr lang="en-US" sz="1600" dirty="0"/>
              <a:t>, corrupting 1 out of every 8 conversational loanwords into archaic, robotic equivalents.</a:t>
            </a:r>
          </a:p>
          <a:p>
            <a:pPr lvl="0"/>
            <a:r>
              <a:rPr lang="en-US" b="1" dirty="0"/>
              <a:t>3. Fragility &amp; Zero Generalization of Static Whitelists</a:t>
            </a:r>
            <a:endParaRPr lang="en-US" dirty="0"/>
          </a:p>
          <a:p>
            <a:pPr lvl="1"/>
            <a:r>
              <a:rPr lang="en-US" sz="1600" b="1" dirty="0"/>
              <a:t>Gap:</a:t>
            </a:r>
            <a:r>
              <a:rPr lang="en-US" sz="1600" dirty="0"/>
              <a:t> Traditional industry approaches rely on hardcoded keyword dictionaries.</a:t>
            </a:r>
          </a:p>
          <a:p>
            <a:pPr lvl="1"/>
            <a:r>
              <a:rPr lang="en-US" sz="1600" b="1" dirty="0"/>
              <a:t>Limitation:</a:t>
            </a:r>
            <a:r>
              <a:rPr lang="en-US" sz="1600" dirty="0"/>
              <a:t> Fixed glossaries collapse on emerging, out-of-vocabulary, or domain-specific technical terminology, achieving only </a:t>
            </a:r>
            <a:r>
              <a:rPr lang="en-US" sz="1600" b="1" dirty="0"/>
              <a:t>0.0477 Token F1</a:t>
            </a:r>
            <a:r>
              <a:rPr lang="en-US" sz="1600" dirty="0"/>
              <a:t> in real-world conversational data.</a:t>
            </a:r>
          </a:p>
          <a:p>
            <a:pPr lvl="0"/>
            <a:r>
              <a:rPr lang="en-US" b="1" dirty="0"/>
              <a:t>4. Lack of Dynamic Communicative Register Adaptation</a:t>
            </a:r>
            <a:endParaRPr lang="en-US" dirty="0"/>
          </a:p>
          <a:p>
            <a:pPr lvl="1"/>
            <a:r>
              <a:rPr lang="en-US" sz="1600" b="1" dirty="0"/>
              <a:t>Gap:</a:t>
            </a:r>
            <a:r>
              <a:rPr lang="en-US" sz="1600" dirty="0"/>
              <a:t> Existing rule-based systems use rigid binary cutoffs that cannot adapt to the formality of the conversation.</a:t>
            </a:r>
          </a:p>
          <a:p>
            <a:pPr lvl="1"/>
            <a:r>
              <a:rPr lang="en-US" sz="1600" b="1" dirty="0"/>
              <a:t>Limitation:</a:t>
            </a:r>
            <a:r>
              <a:rPr lang="en-US" sz="1600" dirty="0"/>
              <a:t> Fails to adjust preservation strictness across different communicative registers—e.g., casual WhatsApp chat  vs. formal business/academic discourse (.</a:t>
            </a:r>
          </a:p>
          <a:p>
            <a:pPr lvl="0"/>
            <a:r>
              <a:rPr lang="en-US" b="1" dirty="0"/>
              <a:t>5. Black-Box Opacity &amp; Orthographic Homograph Collisions</a:t>
            </a:r>
            <a:endParaRPr lang="en-US" dirty="0"/>
          </a:p>
          <a:p>
            <a:pPr lvl="1"/>
            <a:r>
              <a:rPr lang="en-US" sz="1600" b="1" dirty="0"/>
              <a:t>Gap:</a:t>
            </a:r>
            <a:r>
              <a:rPr lang="en-US" sz="1600" dirty="0"/>
              <a:t> Commercial generative models offer zero transparent mathematical audit trails explaining why a term was retained or translated.</a:t>
            </a:r>
          </a:p>
          <a:p>
            <a:pPr lvl="1"/>
            <a:r>
              <a:rPr lang="en-US" sz="1600" b="1" dirty="0"/>
              <a:t>Limitation:</a:t>
            </a:r>
            <a:r>
              <a:rPr lang="en-US" sz="1600" dirty="0"/>
              <a:t> Upstream language taggers fail on Latin-script collisions (</a:t>
            </a:r>
            <a:r>
              <a:rPr lang="en-US" sz="1600" i="1" dirty="0"/>
              <a:t>"us room me meeting h to link </a:t>
            </a:r>
            <a:r>
              <a:rPr lang="en-US" sz="1600" i="1" dirty="0" err="1"/>
              <a:t>bhej</a:t>
            </a:r>
            <a:r>
              <a:rPr lang="en-US" sz="1600" i="1" dirty="0"/>
              <a:t> do"</a:t>
            </a:r>
            <a:r>
              <a:rPr lang="en-US" sz="1600" dirty="0"/>
              <a:t>), misidentifying Hindi grammatical markers (</a:t>
            </a:r>
            <a:r>
              <a:rPr lang="en-US" sz="1600" i="1" dirty="0"/>
              <a:t>us, me, to, do</a:t>
            </a:r>
            <a:r>
              <a:rPr lang="en-US" sz="1600" dirty="0"/>
              <a:t>) as English loanwords.</a:t>
            </a:r>
          </a:p>
          <a:p>
            <a:endParaRPr lang="en-US" sz="16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A73475C-F6E7-C18D-F2AC-DC740E1B70CC}"/>
              </a:ext>
            </a:extLst>
          </p:cNvPr>
          <p:cNvSpPr txBox="1"/>
          <p:nvPr/>
        </p:nvSpPr>
        <p:spPr>
          <a:xfrm>
            <a:off x="160351" y="486394"/>
            <a:ext cx="17032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Research Gap:</a:t>
            </a:r>
          </a:p>
        </p:txBody>
      </p:sp>
    </p:spTree>
    <p:extLst>
      <p:ext uri="{BB962C8B-B14F-4D97-AF65-F5344CB8AC3E}">
        <p14:creationId xmlns:p14="http://schemas.microsoft.com/office/powerpoint/2010/main" val="26231028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0AE58-8206-476A-BECC-A1ADC0EA1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13BC6E0-D294-E70D-8B27-13FBFEE5E6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19193B-09C0-4C85-858C-650926A9B146}" type="datetime1">
              <a:rPr lang="en-IN" smtClean="0"/>
              <a:t>09-09-2026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F284BA2-3334-3EC1-0E81-4C909589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A8F14EB-D02F-8EDE-87F4-A3F7E8D20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6</a:t>
            </a:fld>
            <a:endParaRPr lang="en-IN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D572DC1-122C-4FC1-870D-F95EE5DA95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1628734"/>
              </p:ext>
            </p:extLst>
          </p:nvPr>
        </p:nvGraphicFramePr>
        <p:xfrm>
          <a:off x="419099" y="1630017"/>
          <a:ext cx="11293172" cy="45146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56290">
                  <a:extLst>
                    <a:ext uri="{9D8B030D-6E8A-4147-A177-3AD203B41FA5}">
                      <a16:colId xmlns:a16="http://schemas.microsoft.com/office/drawing/2014/main" val="3304673162"/>
                    </a:ext>
                  </a:extLst>
                </a:gridCol>
                <a:gridCol w="2382174">
                  <a:extLst>
                    <a:ext uri="{9D8B030D-6E8A-4147-A177-3AD203B41FA5}">
                      <a16:colId xmlns:a16="http://schemas.microsoft.com/office/drawing/2014/main" val="3615357479"/>
                    </a:ext>
                  </a:extLst>
                </a:gridCol>
                <a:gridCol w="2252120">
                  <a:extLst>
                    <a:ext uri="{9D8B030D-6E8A-4147-A177-3AD203B41FA5}">
                      <a16:colId xmlns:a16="http://schemas.microsoft.com/office/drawing/2014/main" val="2419210235"/>
                    </a:ext>
                  </a:extLst>
                </a:gridCol>
                <a:gridCol w="2328737">
                  <a:extLst>
                    <a:ext uri="{9D8B030D-6E8A-4147-A177-3AD203B41FA5}">
                      <a16:colId xmlns:a16="http://schemas.microsoft.com/office/drawing/2014/main" val="2692202799"/>
                    </a:ext>
                  </a:extLst>
                </a:gridCol>
                <a:gridCol w="2473851">
                  <a:extLst>
                    <a:ext uri="{9D8B030D-6E8A-4147-A177-3AD203B41FA5}">
                      <a16:colId xmlns:a16="http://schemas.microsoft.com/office/drawing/2014/main" val="1020885355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 dirty="0">
                          <a:effectLst/>
                        </a:rPr>
                        <a:t>Paper</a:t>
                      </a:r>
                      <a:endParaRPr lang="en-US" sz="976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 dirty="0">
                          <a:effectLst/>
                        </a:rPr>
                        <a:t>Objective</a:t>
                      </a:r>
                      <a:endParaRPr lang="en-US" sz="976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 dirty="0">
                          <a:effectLst/>
                        </a:rPr>
                        <a:t>Methodology</a:t>
                      </a:r>
                      <a:endParaRPr lang="en-US" sz="976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 dirty="0">
                          <a:effectLst/>
                        </a:rPr>
                        <a:t>Pros / Cons</a:t>
                      </a:r>
                      <a:endParaRPr lang="en-US" sz="976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 dirty="0">
                          <a:effectLst/>
                        </a:rPr>
                        <a:t>Findings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34910616"/>
                  </a:ext>
                </a:extLst>
              </a:tr>
              <a:tr h="8728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98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LinCE</a:t>
                      </a:r>
                      <a:r>
                        <a:rPr lang="en-IN" sz="98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: A Centralized Benchmark for Linguistic Code-switching Evaluation</a:t>
                      </a:r>
                      <a:br>
                        <a:rPr lang="en-US" sz="976" dirty="0">
                          <a:effectLst/>
                        </a:rPr>
                      </a:br>
                      <a:r>
                        <a:rPr lang="en-US" sz="976" dirty="0">
                          <a:effectLst/>
                        </a:rPr>
                        <a:t>(</a:t>
                      </a:r>
                      <a:r>
                        <a:rPr lang="en-US" sz="976" dirty="0" err="1">
                          <a:effectLst/>
                        </a:rPr>
                        <a:t>LinCE</a:t>
                      </a:r>
                      <a:r>
                        <a:rPr lang="en-US" sz="976" dirty="0">
                          <a:effectLst/>
                        </a:rPr>
                        <a:t>, LREC 2020)</a:t>
                      </a:r>
                      <a:endParaRPr lang="en-US" sz="976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 dirty="0">
                          <a:effectLst/>
                        </a:rPr>
                        <a:t>Provide a centralized evaluation benchmark for linguistic code-switching.</a:t>
                      </a:r>
                      <a:endParaRPr lang="en-US" sz="976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 dirty="0">
                          <a:effectLst/>
                        </a:rPr>
                        <a:t>Curated multi-task benchmark suite (LID, POS, NER, sentiment) across Spanish-English and Hinglish.</a:t>
                      </a:r>
                      <a:endParaRPr lang="en-US" sz="976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 dirty="0">
                          <a:effectLst/>
                        </a:rPr>
                        <a:t>Pros: Standardized open benchmark.</a:t>
                      </a:r>
                      <a:br>
                        <a:rPr lang="en-US" sz="976" dirty="0">
                          <a:effectLst/>
                        </a:rPr>
                      </a:br>
                      <a:r>
                        <a:rPr lang="en-US" sz="976" dirty="0">
                          <a:effectLst/>
                        </a:rPr>
                        <a:t>Cons: Limited to classification/tagging; lacks generative rewriting.</a:t>
                      </a:r>
                      <a:endParaRPr lang="en-US" sz="976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 dirty="0">
                          <a:effectLst/>
                        </a:rPr>
                        <a:t>Code-mixed text requires dedicated benchmarks; sequence taggers cannot handle generative over-translation.</a:t>
                      </a:r>
                      <a:endParaRPr lang="en-US" sz="976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9833603"/>
                  </a:ext>
                </a:extLst>
              </a:tr>
              <a:tr h="8728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980" b="0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GLUECoS</a:t>
                      </a:r>
                      <a:r>
                        <a:rPr lang="en-IN" sz="98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: An Evaluation Benchmark for Code-Switched NLP</a:t>
                      </a:r>
                      <a:br>
                        <a:rPr lang="en-US" sz="976" dirty="0">
                          <a:effectLst/>
                        </a:rPr>
                      </a:br>
                      <a:r>
                        <a:rPr lang="en-US" sz="976" dirty="0">
                          <a:effectLst/>
                        </a:rPr>
                        <a:t>(</a:t>
                      </a:r>
                      <a:r>
                        <a:rPr lang="en-US" sz="976" dirty="0" err="1">
                          <a:effectLst/>
                        </a:rPr>
                        <a:t>GLUECoS</a:t>
                      </a:r>
                      <a:r>
                        <a:rPr lang="en-US" sz="976" dirty="0">
                          <a:effectLst/>
                        </a:rPr>
                        <a:t>, ACL 2020)</a:t>
                      </a:r>
                      <a:endParaRPr lang="en-US" sz="976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 dirty="0">
                          <a:effectLst/>
                        </a:rPr>
                        <a:t>Benchmark pretrained multilingual LLMs on diverse code-switched NLP tasks.</a:t>
                      </a:r>
                      <a:endParaRPr lang="en-US" sz="976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 dirty="0">
                          <a:effectLst/>
                        </a:rPr>
                        <a:t>Evaluated </a:t>
                      </a:r>
                      <a:r>
                        <a:rPr lang="en-US" sz="976" dirty="0" err="1">
                          <a:effectLst/>
                        </a:rPr>
                        <a:t>mBERT</a:t>
                      </a:r>
                      <a:r>
                        <a:rPr lang="en-US" sz="976" dirty="0">
                          <a:effectLst/>
                        </a:rPr>
                        <a:t> and XLM-</a:t>
                      </a:r>
                      <a:r>
                        <a:rPr lang="en-US" sz="976" dirty="0" err="1">
                          <a:effectLst/>
                        </a:rPr>
                        <a:t>RoBERTa</a:t>
                      </a:r>
                      <a:r>
                        <a:rPr lang="en-US" sz="976" dirty="0">
                          <a:effectLst/>
                        </a:rPr>
                        <a:t> across 11 code-switched task datasets.</a:t>
                      </a:r>
                      <a:endParaRPr lang="en-US" sz="976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Pros: Robust multi-task baseline.</a:t>
                      </a:r>
                      <a:br>
                        <a:rPr lang="en-US" sz="976">
                          <a:effectLst/>
                        </a:rPr>
                      </a:br>
                      <a:r>
                        <a:rPr lang="en-US" sz="976">
                          <a:effectLst/>
                        </a:rPr>
                        <a:t>Cons: Demonstrates translation degradation but lacks preservation logic.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Standard multilingual models struggle with code-mixed borrowings, proving the need for pre-generation guardrails.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4969424"/>
                  </a:ext>
                </a:extLst>
              </a:tr>
              <a:tr h="87286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98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COMI-LINGUA: Expert Annotated Large-Scale Dataset for Multitask NLP in Hindi-English Code-Mixing</a:t>
                      </a:r>
                      <a:endParaRPr lang="en-IN" sz="98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indent="0" algn="l">
                        <a:buNone/>
                      </a:pPr>
                      <a:r>
                        <a:rPr lang="en-US" sz="976" dirty="0">
                          <a:effectLst/>
                        </a:rPr>
                        <a:t>(2025)</a:t>
                      </a:r>
                      <a:endParaRPr lang="en-US" sz="976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 dirty="0">
                          <a:effectLst/>
                        </a:rPr>
                        <a:t>Build a large, expert-annotated Hinglish benchmark for evaluating NLP models across multiple code-mixed tasks.</a:t>
                      </a:r>
                      <a:endParaRPr lang="en-US" sz="976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IN" sz="1000" b="0" dirty="0"/>
                        <a:t>Created 125K+ instances across LID, MLI, POS, NER and MT using three bilingual annotators, then evaluated closed/open LLMs with zero-/one-shot prompting and fine-tuning.</a:t>
                      </a:r>
                      <a:endParaRPr lang="en-US" sz="976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IN" sz="1000" b="0" dirty="0"/>
                        <a:t>Pros: Large, multi-task, expert-annotated dataset covering Roman and Devanagari scripts;</a:t>
                      </a:r>
                    </a:p>
                    <a:p>
                      <a:pPr indent="0" algn="l">
                        <a:buNone/>
                      </a:pPr>
                      <a:r>
                        <a:rPr lang="en-IN" sz="1000" b="0" dirty="0"/>
                        <a:t> Cons: Focused specifically on Hindi-English code-mixing and still exposes weaknesses in mixed-script/code-mixed inputs.</a:t>
                      </a:r>
                      <a:endParaRPr lang="en-US" sz="976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IN" sz="1000" b="0" dirty="0"/>
                        <a:t>Closed-weight LLMs outperform open models/tools in zero-shot settings, while one-shot prompting improves performance; fine-tuning reaches 95.25 F1 NER and 98.77 F1 MLI.</a:t>
                      </a:r>
                      <a:endParaRPr lang="en-US" sz="976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4161816"/>
                  </a:ext>
                </a:extLst>
              </a:tr>
              <a:tr h="1062010">
                <a:tc>
                  <a:txBody>
                    <a:bodyPr/>
                    <a:lstStyle/>
                    <a:p>
                      <a:r>
                        <a:rPr lang="en-IN" sz="98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Do LLMs model human linguistic variation? A case study in Hindi-English Verb code-mixing</a:t>
                      </a:r>
                      <a:br>
                        <a:rPr lang="en-US" sz="976" dirty="0">
                          <a:effectLst/>
                        </a:rPr>
                      </a:br>
                      <a:r>
                        <a:rPr lang="en-US" sz="976" dirty="0">
                          <a:effectLst/>
                        </a:rPr>
                        <a:t>(</a:t>
                      </a:r>
                      <a:r>
                        <a:rPr lang="en-IN" sz="1000" dirty="0"/>
                        <a:t>Findings of EACL 2026)</a:t>
                      </a:r>
                      <a:endParaRPr lang="en-US" sz="976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IN" sz="980" b="0" dirty="0"/>
                        <a:t>Evaluate whether LLMs can capture human preferences for Hindi vs. English verbs in Hinglish code-mixing. </a:t>
                      </a:r>
                      <a:endParaRPr lang="en-US" sz="980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IN" sz="1000" b="0" dirty="0"/>
                        <a:t>Compared native-speaker judgments with LLM perplexities across 7 models, using 30 controlled verb pairs and 4,279 verb pairs for analysis. </a:t>
                      </a:r>
                      <a:endParaRPr lang="en-US" sz="976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 dirty="0">
                          <a:effectLst/>
                        </a:rPr>
                        <a:t>Pros: Directly evaluates LLM linguistic behavior against human judgments;</a:t>
                      </a:r>
                    </a:p>
                    <a:p>
                      <a:pPr indent="0" algn="l">
                        <a:buNone/>
                      </a:pPr>
                      <a:r>
                        <a:rPr lang="en-US" sz="976" dirty="0">
                          <a:effectLst/>
                        </a:rPr>
                        <a:t> Cons: Focuses narrowly on verb code-mixing rather than general Hinglish normalization.</a:t>
                      </a:r>
                      <a:endParaRPr lang="en-US" sz="976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IN" sz="980" dirty="0"/>
                        <a:t>Current LLMs </a:t>
                      </a:r>
                      <a:r>
                        <a:rPr lang="en-IN" sz="980" b="1" dirty="0"/>
                        <a:t>do not reliably match native-speaker preferences</a:t>
                      </a:r>
                      <a:r>
                        <a:rPr lang="en-IN" sz="980" dirty="0"/>
                        <a:t>, although targeted supervision improves their ability to model human variation.</a:t>
                      </a:r>
                      <a:endParaRPr lang="en-US" sz="980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893681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97CBC953-E0F3-56EE-EBD7-D4747A21667E}"/>
              </a:ext>
            </a:extLst>
          </p:cNvPr>
          <p:cNvSpPr txBox="1"/>
          <p:nvPr/>
        </p:nvSpPr>
        <p:spPr>
          <a:xfrm>
            <a:off x="234682" y="740394"/>
            <a:ext cx="21263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Literature Review:</a:t>
            </a:r>
          </a:p>
        </p:txBody>
      </p:sp>
    </p:spTree>
    <p:extLst>
      <p:ext uri="{BB962C8B-B14F-4D97-AF65-F5344CB8AC3E}">
        <p14:creationId xmlns:p14="http://schemas.microsoft.com/office/powerpoint/2010/main" val="857449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EBFD81-D49C-D58A-7012-A24064241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886FF-1BA7-4533-94E6-869CE1E2970B}" type="datetime1">
              <a:rPr lang="en-IN" smtClean="0"/>
              <a:t>09-09-2026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A2AB70-9C4A-BF0C-CF0E-46C3BBAE6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FB2B63-8B32-F0CB-C40C-579D38D12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7</a:t>
            </a:fld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8A23E3B-0165-BCAA-90DF-9AB2A0FD8DEC}"/>
              </a:ext>
            </a:extLst>
          </p:cNvPr>
          <p:cNvSpPr txBox="1"/>
          <p:nvPr/>
        </p:nvSpPr>
        <p:spPr>
          <a:xfrm>
            <a:off x="234682" y="740394"/>
            <a:ext cx="21263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Literature Review: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04E5250-8AFC-9FF6-A30D-25BE6DB67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5095360"/>
              </p:ext>
            </p:extLst>
          </p:nvPr>
        </p:nvGraphicFramePr>
        <p:xfrm>
          <a:off x="390144" y="1534602"/>
          <a:ext cx="11417542" cy="43414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73828">
                  <a:extLst>
                    <a:ext uri="{9D8B030D-6E8A-4147-A177-3AD203B41FA5}">
                      <a16:colId xmlns:a16="http://schemas.microsoft.com/office/drawing/2014/main" val="2371269094"/>
                    </a:ext>
                  </a:extLst>
                </a:gridCol>
                <a:gridCol w="1971924">
                  <a:extLst>
                    <a:ext uri="{9D8B030D-6E8A-4147-A177-3AD203B41FA5}">
                      <a16:colId xmlns:a16="http://schemas.microsoft.com/office/drawing/2014/main" val="2397973381"/>
                    </a:ext>
                  </a:extLst>
                </a:gridCol>
                <a:gridCol w="2703443">
                  <a:extLst>
                    <a:ext uri="{9D8B030D-6E8A-4147-A177-3AD203B41FA5}">
                      <a16:colId xmlns:a16="http://schemas.microsoft.com/office/drawing/2014/main" val="2134157781"/>
                    </a:ext>
                  </a:extLst>
                </a:gridCol>
                <a:gridCol w="2496710">
                  <a:extLst>
                    <a:ext uri="{9D8B030D-6E8A-4147-A177-3AD203B41FA5}">
                      <a16:colId xmlns:a16="http://schemas.microsoft.com/office/drawing/2014/main" val="1011972013"/>
                    </a:ext>
                  </a:extLst>
                </a:gridCol>
                <a:gridCol w="2671637">
                  <a:extLst>
                    <a:ext uri="{9D8B030D-6E8A-4147-A177-3AD203B41FA5}">
                      <a16:colId xmlns:a16="http://schemas.microsoft.com/office/drawing/2014/main" val="2823525022"/>
                    </a:ext>
                  </a:extLst>
                </a:gridCol>
              </a:tblGrid>
              <a:tr h="332669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Paper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Objective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Methodology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Pros / Cons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Findings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65328333"/>
                  </a:ext>
                </a:extLst>
              </a:tr>
              <a:tr h="9506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98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2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PHINC: A Parallel Hinglish Social Media Code-Mixed Corpus for Machine Translation</a:t>
                      </a:r>
                      <a:br>
                        <a:rPr lang="en-US" sz="98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980" dirty="0">
                          <a:solidFill>
                            <a:schemeClr val="tx1"/>
                          </a:solidFill>
                          <a:effectLst/>
                        </a:rPr>
                        <a:t>(IEEE Access 2024)</a:t>
                      </a:r>
                      <a:endParaRPr lang="en-US" sz="980" b="0" i="0" dirty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 dirty="0">
                          <a:effectLst/>
                        </a:rPr>
                        <a:t>Evaluate LLMs (GPT-4, Llama) on Hinglish code-mixed text normalization.</a:t>
                      </a:r>
                      <a:endParaRPr lang="en-US" sz="976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 dirty="0">
                          <a:effectLst/>
                        </a:rPr>
                        <a:t>Tested commercial and open LLMs on social media text normalization and translation.</a:t>
                      </a:r>
                      <a:endParaRPr lang="en-US" sz="976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 dirty="0">
                          <a:effectLst/>
                        </a:rPr>
                        <a:t>Pros: Thorough empirical LLM study.</a:t>
                      </a:r>
                      <a:br>
                        <a:rPr lang="en-US" sz="976" dirty="0">
                          <a:effectLst/>
                        </a:rPr>
                      </a:br>
                      <a:r>
                        <a:rPr lang="en-US" sz="976" dirty="0">
                          <a:effectLst/>
                        </a:rPr>
                        <a:t>Cons: Identifies severe over-translation but offers no deterministic fix.</a:t>
                      </a:r>
                      <a:endParaRPr lang="en-US" sz="976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 dirty="0">
                          <a:effectLst/>
                        </a:rPr>
                        <a:t>Multilingual LLMs systematically over-translate natural loanwords into archaic terms unless explicitly constrained.</a:t>
                      </a:r>
                      <a:endParaRPr lang="en-US" sz="976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52715664"/>
                  </a:ext>
                </a:extLst>
              </a:tr>
              <a:tr h="9506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98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3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Lexically Constrained Decoding for Sequence Generation Using Grid Beam Search</a:t>
                      </a:r>
                      <a:br>
                        <a:rPr lang="en-US" sz="980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980" dirty="0">
                          <a:solidFill>
                            <a:schemeClr val="tx1"/>
                          </a:solidFill>
                          <a:effectLst/>
                        </a:rPr>
                        <a:t>(ACL 2017)</a:t>
                      </a:r>
                      <a:endParaRPr lang="en-US" sz="980" b="0" i="0" dirty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Enforce lexical constraints during autoregressive sequence generation.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 dirty="0">
                          <a:effectLst/>
                        </a:rPr>
                        <a:t>Developed Grid Beam Search (GBS) to force specific words to appear in NMT target outputs.</a:t>
                      </a:r>
                      <a:endParaRPr lang="en-US" sz="976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 dirty="0">
                          <a:effectLst/>
                        </a:rPr>
                        <a:t>Pros: Hard constraint guarantees.</a:t>
                      </a:r>
                      <a:br>
                        <a:rPr lang="en-US" sz="976" dirty="0">
                          <a:effectLst/>
                        </a:rPr>
                      </a:br>
                      <a:r>
                        <a:rPr lang="en-US" sz="976" dirty="0">
                          <a:effectLst/>
                        </a:rPr>
                        <a:t>Cons: High decoding complexity; requires a pre-determined static glossary.</a:t>
                      </a:r>
                      <a:endParaRPr lang="en-US" sz="976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Proves that decoders can enforce token preservation, but requires an intelligent upstream engine to choose what to preserve.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3773552"/>
                  </a:ext>
                </a:extLst>
              </a:tr>
              <a:tr h="115668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98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Fast Lexically Constrained Decoding with Dynamic Beam Allocation for Neural Machine Translation</a:t>
                      </a:r>
                      <a:endParaRPr lang="en-IN" sz="98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indent="0" algn="l">
                        <a:buNone/>
                      </a:pPr>
                      <a:r>
                        <a:rPr lang="en-US" sz="976" dirty="0">
                          <a:effectLst/>
                        </a:rPr>
                        <a:t>(NAACL 2018)</a:t>
                      </a:r>
                      <a:endParaRPr lang="en-US" sz="976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Accelerate lexically constrained decoding for real-time translation pipelines.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Formulated Vectorized Dynamic Beam Allocation (DBA) to dramatically speed up GBS.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Pros: Constant-time decoding overhead.</a:t>
                      </a:r>
                      <a:br>
                        <a:rPr lang="en-US" sz="976">
                          <a:effectLst/>
                        </a:rPr>
                      </a:br>
                      <a:r>
                        <a:rPr lang="en-US" sz="976">
                          <a:effectLst/>
                        </a:rPr>
                        <a:t>Cons: Focuses purely on downstream search; does not score loanword validity.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Confirms constrained decoding is production-feasible; LAPS serves as the upstream decision layer feeding into it.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0759749"/>
                  </a:ext>
                </a:extLst>
              </a:tr>
              <a:tr h="95068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98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Language Identification and Analysis of Code-Switched Social Media Text</a:t>
                      </a:r>
                      <a:br>
                        <a:rPr lang="en-US" sz="976" dirty="0">
                          <a:solidFill>
                            <a:schemeClr val="tx1"/>
                          </a:solidFill>
                          <a:effectLst/>
                        </a:rPr>
                      </a:br>
                      <a:r>
                        <a:rPr lang="en-US" sz="976" dirty="0">
                          <a:solidFill>
                            <a:schemeClr val="tx1"/>
                          </a:solidFill>
                          <a:effectLst/>
                        </a:rPr>
                        <a:t>(NAACL 2018)</a:t>
                      </a:r>
                      <a:endParaRPr lang="en-US" sz="976" b="0" i="0" dirty="0">
                        <a:solidFill>
                          <a:schemeClr val="tx1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Token-level Language Identification in real-world code-switched text.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Trained character-level BiLSTMs to classify tokens into language categories.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Pros: Robust subword noise handling.</a:t>
                      </a:r>
                      <a:br>
                        <a:rPr lang="en-US" sz="976">
                          <a:effectLst/>
                        </a:rPr>
                      </a:br>
                      <a:r>
                        <a:rPr lang="en-US" sz="976">
                          <a:effectLst/>
                        </a:rPr>
                        <a:t>Cons: Identifies token language but cannot decide whether to preserve or translate.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 dirty="0">
                          <a:effectLst/>
                        </a:rPr>
                        <a:t>Language identification is an essential upstream prerequisite, but must be paired with borrowing propensity scoring.</a:t>
                      </a:r>
                      <a:endParaRPr lang="en-US" sz="976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60351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35313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50AAC-0156-D6F5-7153-C79199994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185A49B1-3DE6-759C-F1C1-E0E694AF93A5}"/>
              </a:ext>
            </a:extLst>
          </p:cNvPr>
          <p:cNvSpPr txBox="1"/>
          <p:nvPr/>
        </p:nvSpPr>
        <p:spPr>
          <a:xfrm>
            <a:off x="489080" y="1028343"/>
            <a:ext cx="11378455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sz="2000" b="1" dirty="0"/>
              <a:t>  Primary Project Objectives:</a:t>
            </a:r>
            <a:endParaRPr lang="en-US" sz="20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IN" dirty="0"/>
              <a:t>Develop a code-mixed tokenization, </a:t>
            </a:r>
            <a:r>
              <a:rPr lang="en-IN" dirty="0" err="1"/>
              <a:t>subword</a:t>
            </a:r>
            <a:r>
              <a:rPr lang="en-IN" dirty="0"/>
              <a:t> Language Identification, and homograph disambiguation pipeline.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 Design the 6-factor LAPS scoring engine with register prediction, adaptive sigmoid thresholds, XML guardrails,                               and explainability.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Evaluate LAPS comprehensively using OTER, UTER, BLEU, and inter-annotator agreement metrics</a:t>
            </a:r>
          </a:p>
          <a:p>
            <a:pPr lvl="1"/>
            <a:endParaRPr lang="en-US" sz="2000" b="1" dirty="0"/>
          </a:p>
          <a:p>
            <a:pPr lvl="1"/>
            <a:r>
              <a:rPr lang="en-US" sz="2000" b="1" dirty="0"/>
              <a:t>Identified Sustainable Development Goals (SDGs):</a:t>
            </a: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SDG 4 (Quality Education):</a:t>
            </a:r>
            <a:r>
              <a:rPr lang="en-US" dirty="0"/>
              <a:t> Enhances multilingual digital literacy &amp; protects academic terminology.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SDG 9 (Industry, Innovation &amp; Infrastructure):</a:t>
            </a:r>
            <a:r>
              <a:rPr lang="en-US" dirty="0"/>
              <a:t> Fosters trustworthy, explainable, and enterprise-grade AI systems.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SDG 10 (Reduced Inequalities):</a:t>
            </a:r>
            <a:r>
              <a:rPr lang="en-US" dirty="0"/>
              <a:t> Bridges linguistic barriers for 500M+ code-mixed native speakers.</a:t>
            </a:r>
          </a:p>
          <a:p>
            <a:pPr lvl="0"/>
            <a:br>
              <a:rPr lang="en-US" sz="2000" dirty="0"/>
            </a:br>
            <a:r>
              <a:rPr lang="en-US" sz="2000" b="1" dirty="0"/>
              <a:t>Target Deliverable Outcomes:</a:t>
            </a: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Research Paper:</a:t>
            </a:r>
            <a:r>
              <a:rPr lang="en-US" dirty="0"/>
              <a:t> IEEE / Scopus-indexed Conference or Journal (ICON 2026 / IEEE Access).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Patent Application:</a:t>
            </a:r>
            <a:r>
              <a:rPr lang="en-US" dirty="0"/>
              <a:t> Provisional Patent Application (Pre-Generation Token Preservation Framework).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Prototype:</a:t>
            </a:r>
            <a:r>
              <a:rPr lang="en-US" dirty="0"/>
              <a:t> Working Web Application (</a:t>
            </a:r>
            <a:r>
              <a:rPr lang="en-US" dirty="0" err="1"/>
              <a:t>Streamlit</a:t>
            </a:r>
            <a:r>
              <a:rPr lang="en-US" dirty="0"/>
              <a:t> Dashboard at localhost:8501).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962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49C0F-2490-21B4-8186-6F75540AC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40592E-46EE-B4F2-7D01-D3568C2F6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09-09-2026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DC439-5940-84EE-247A-E3018795A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CB23C8-7091-8CFB-BF2C-3A19CCA81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C661301-BA4C-D586-19B8-A497D499CA5D}"/>
              </a:ext>
            </a:extLst>
          </p:cNvPr>
          <p:cNvSpPr txBox="1"/>
          <p:nvPr/>
        </p:nvSpPr>
        <p:spPr>
          <a:xfrm>
            <a:off x="489156" y="304801"/>
            <a:ext cx="2743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System Architecture: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38E45F-49E4-3130-575E-CB4CAD998C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2356" y="136525"/>
            <a:ext cx="3854244" cy="6622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13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E95AF1-B807-AC15-9C1A-B86677AF6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F25267-3005-EC45-A624-B78484DFA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09-09-2026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022FF-AD0C-E15E-5F17-B2827B554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D6198-8B2C-26FB-53D2-A5B87C95A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0221A8-2D7D-F67A-40E7-9CCC1836C5EF}"/>
              </a:ext>
            </a:extLst>
          </p:cNvPr>
          <p:cNvSpPr txBox="1"/>
          <p:nvPr/>
        </p:nvSpPr>
        <p:spPr>
          <a:xfrm>
            <a:off x="151075" y="258167"/>
            <a:ext cx="29199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Functional Requirements:</a:t>
            </a:r>
            <a:endParaRPr 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9CDD58B-924A-A213-5070-FBBB6A42629E}"/>
              </a:ext>
            </a:extLst>
          </p:cNvPr>
          <p:cNvSpPr txBox="1"/>
          <p:nvPr/>
        </p:nvSpPr>
        <p:spPr>
          <a:xfrm>
            <a:off x="326322" y="627499"/>
            <a:ext cx="11539355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/>
              <a:t>FR-1: Code-Mixing Index (CMI) Detection</a:t>
            </a:r>
            <a:br>
              <a:rPr lang="en-US" dirty="0"/>
            </a:br>
            <a:r>
              <a:rPr lang="en-US" dirty="0"/>
              <a:t>Computes sentence-level CMI (</a:t>
            </a:r>
            <a:r>
              <a:rPr lang="en-US" i="1" dirty="0" err="1"/>
              <a:t>Gambäck</a:t>
            </a:r>
            <a:r>
              <a:rPr lang="en-US" i="1" dirty="0"/>
              <a:t> &amp; Das, 2014</a:t>
            </a:r>
            <a:r>
              <a:rPr lang="en-US" dirty="0"/>
              <a:t>) to automatically bypass monolingual sentences without unnecessary downstream processing.</a:t>
            </a:r>
          </a:p>
          <a:p>
            <a:pPr lvl="0"/>
            <a:r>
              <a:rPr lang="en-US" b="1" dirty="0"/>
              <a:t>FR-2: </a:t>
            </a:r>
            <a:r>
              <a:rPr lang="en-US" b="1" dirty="0" err="1"/>
              <a:t>Subword</a:t>
            </a:r>
            <a:r>
              <a:rPr lang="en-US" b="1" dirty="0"/>
              <a:t> Language Identification</a:t>
            </a:r>
            <a:br>
              <a:rPr lang="en-US" dirty="0"/>
            </a:br>
            <a:r>
              <a:rPr lang="en-US" dirty="0"/>
              <a:t>Classifies tokens into language categories (EN, HI, MIXED, PUNCT) and tags orthographic scripts (</a:t>
            </a:r>
            <a:r>
              <a:rPr lang="en-US" i="1" dirty="0"/>
              <a:t>Latin</a:t>
            </a:r>
            <a:r>
              <a:rPr lang="en-US" dirty="0"/>
              <a:t> vs. </a:t>
            </a:r>
            <a:r>
              <a:rPr lang="en-US" i="1" dirty="0"/>
              <a:t>Devanagari</a:t>
            </a:r>
            <a:r>
              <a:rPr lang="en-US" dirty="0"/>
              <a:t>).</a:t>
            </a:r>
          </a:p>
          <a:p>
            <a:pPr lvl="0"/>
            <a:r>
              <a:rPr lang="en-US" b="1" dirty="0"/>
              <a:t>FR-3: Contextual Homograph Disambiguation</a:t>
            </a:r>
            <a:br>
              <a:rPr lang="en-US" dirty="0"/>
            </a:br>
            <a:r>
              <a:rPr lang="en-US" dirty="0"/>
              <a:t>Resolves Latin-script collisions (</a:t>
            </a:r>
            <a:r>
              <a:rPr lang="en-US" i="1" dirty="0"/>
              <a:t>us, me, so, do, to, is</a:t>
            </a:r>
            <a:r>
              <a:rPr lang="en-US" dirty="0"/>
              <a:t>) using neighboring postpositions to eliminate false-positive loanword detections.</a:t>
            </a:r>
          </a:p>
          <a:p>
            <a:pPr lvl="0"/>
            <a:r>
              <a:rPr lang="en-US" b="1" dirty="0"/>
              <a:t>FR-4: 6-Factor Feature Extraction</a:t>
            </a:r>
            <a:br>
              <a:rPr lang="en-US" dirty="0"/>
            </a:br>
            <a:r>
              <a:rPr lang="en-US" dirty="0"/>
              <a:t>Computes continuous normalized scores [0.0, 1.0] across Borrowing Frequency, Domain Specificity, Semantic Importance Context Consistency, Audience Familiarity, and Translation Benefit.</a:t>
            </a:r>
          </a:p>
          <a:p>
            <a:pPr lvl="0"/>
            <a:r>
              <a:rPr lang="en-US" b="1" dirty="0"/>
              <a:t>FR-5: Automated Conversational Register Inference</a:t>
            </a:r>
            <a:br>
              <a:rPr lang="en-US" dirty="0"/>
            </a:br>
            <a:r>
              <a:rPr lang="en-US" dirty="0"/>
              <a:t>Infers communicative register (</a:t>
            </a:r>
            <a:r>
              <a:rPr lang="en-US" i="1" dirty="0"/>
              <a:t>Casual, Social, Business, Academic</a:t>
            </a:r>
            <a:r>
              <a:rPr lang="en-US" dirty="0"/>
              <a:t>) from text cues and dynamically assigns the baseline threshold.</a:t>
            </a:r>
          </a:p>
          <a:p>
            <a:pPr lvl="0"/>
            <a:r>
              <a:rPr lang="en-US" b="1" dirty="0"/>
              <a:t>FR-6: Soft Sigmoid Decision Mapping</a:t>
            </a:r>
            <a:br>
              <a:rPr lang="en-US" dirty="0"/>
            </a:br>
            <a:r>
              <a:rPr lang="en-US" dirty="0"/>
              <a:t>Evaluates continuous logistic probability </a:t>
            </a:r>
            <a:r>
              <a:rPr lang="en-US" b="1" dirty="0"/>
              <a:t>Preserve</a:t>
            </a:r>
            <a:r>
              <a:rPr lang="en-US" dirty="0"/>
              <a:t> and categorizes tokens into </a:t>
            </a:r>
            <a:r>
              <a:rPr lang="en-US" b="1" dirty="0"/>
              <a:t>PRESERVE</a:t>
            </a:r>
            <a:r>
              <a:rPr lang="en-US" dirty="0"/>
              <a:t>, </a:t>
            </a:r>
            <a:r>
              <a:rPr lang="en-US" b="1" dirty="0"/>
              <a:t>UNCERTAIN</a:t>
            </a:r>
            <a:r>
              <a:rPr lang="en-US" dirty="0"/>
              <a:t>, or </a:t>
            </a:r>
            <a:r>
              <a:rPr lang="en-US" b="1" dirty="0"/>
              <a:t>REWRITE</a:t>
            </a:r>
            <a:r>
              <a:rPr lang="en-US" dirty="0"/>
              <a:t> zones.</a:t>
            </a:r>
          </a:p>
          <a:p>
            <a:pPr lvl="0"/>
            <a:r>
              <a:rPr lang="en-US" b="1" dirty="0"/>
              <a:t>FR-7: XML Guardrail Constraint Synthesis</a:t>
            </a:r>
            <a:br>
              <a:rPr lang="en-US" dirty="0"/>
            </a:br>
            <a:r>
              <a:rPr lang="en-US" dirty="0"/>
              <a:t>Compiles verified loanword decisions into machine-</a:t>
            </a:r>
            <a:r>
              <a:rPr lang="en-US" dirty="0" err="1"/>
              <a:t>parseable</a:t>
            </a:r>
            <a:r>
              <a:rPr lang="en-US" dirty="0"/>
              <a:t> XML prompt constraints to prevent downstream LLM prompt drift.</a:t>
            </a:r>
          </a:p>
          <a:p>
            <a:pPr lvl="0"/>
            <a:r>
              <a:rPr lang="en-US" b="1" dirty="0"/>
              <a:t>FR-8: Enterprise Audit Trail &amp; Explainability</a:t>
            </a:r>
            <a:br>
              <a:rPr lang="en-US" dirty="0"/>
            </a:br>
            <a:r>
              <a:rPr lang="en-US" dirty="0"/>
              <a:t>Generates transparent token-level mathematical rationales, hexagonal radar charts, and exportable CSV audit reports.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1299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2F2ED-50F9-3DFA-95BB-1A1059C5D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4A04E0-6631-130F-A154-C85D978EA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09-09-2026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15995-EDEB-C984-B852-1229C23B1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7F5109-389C-3E37-E553-A559233EF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DAA69DFA-AE0D-C104-190D-D280AFA15E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7488154"/>
              </p:ext>
            </p:extLst>
          </p:nvPr>
        </p:nvGraphicFramePr>
        <p:xfrm>
          <a:off x="254441" y="1296063"/>
          <a:ext cx="11736124" cy="48661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34031">
                  <a:extLst>
                    <a:ext uri="{9D8B030D-6E8A-4147-A177-3AD203B41FA5}">
                      <a16:colId xmlns:a16="http://schemas.microsoft.com/office/drawing/2014/main" val="3931544616"/>
                    </a:ext>
                  </a:extLst>
                </a:gridCol>
                <a:gridCol w="2934031">
                  <a:extLst>
                    <a:ext uri="{9D8B030D-6E8A-4147-A177-3AD203B41FA5}">
                      <a16:colId xmlns:a16="http://schemas.microsoft.com/office/drawing/2014/main" val="2040359903"/>
                    </a:ext>
                  </a:extLst>
                </a:gridCol>
                <a:gridCol w="2934031">
                  <a:extLst>
                    <a:ext uri="{9D8B030D-6E8A-4147-A177-3AD203B41FA5}">
                      <a16:colId xmlns:a16="http://schemas.microsoft.com/office/drawing/2014/main" val="1919455589"/>
                    </a:ext>
                  </a:extLst>
                </a:gridCol>
                <a:gridCol w="2934031">
                  <a:extLst>
                    <a:ext uri="{9D8B030D-6E8A-4147-A177-3AD203B41FA5}">
                      <a16:colId xmlns:a16="http://schemas.microsoft.com/office/drawing/2014/main" val="3193781230"/>
                    </a:ext>
                  </a:extLst>
                </a:gridCol>
              </a:tblGrid>
              <a:tr h="33068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 b="1" dirty="0">
                          <a:effectLst/>
                        </a:rPr>
                        <a:t>Module Name</a:t>
                      </a:r>
                      <a:endParaRPr lang="en-US" sz="976" b="1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 b="1">
                          <a:effectLst/>
                        </a:rPr>
                        <a:t>Source File</a:t>
                      </a:r>
                      <a:endParaRPr lang="en-US" sz="976" b="1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 b="1">
                          <a:effectLst/>
                        </a:rPr>
                        <a:t>Core Functionality</a:t>
                      </a:r>
                      <a:endParaRPr lang="en-US" sz="976" b="1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76" b="1" dirty="0">
                          <a:effectLst/>
                        </a:rPr>
                        <a:t>Operational Status</a:t>
                      </a:r>
                      <a:endParaRPr lang="en-US" sz="976" b="1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4499483"/>
                  </a:ext>
                </a:extLst>
              </a:tr>
              <a:tr h="33068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CMI Detector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src/laps/cmi_detector.py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Calculates sentence-level Code-Mixing Index.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76" dirty="0">
                          <a:effectLst/>
                        </a:rPr>
                        <a:t> Operational</a:t>
                      </a:r>
                      <a:endParaRPr lang="en-US" sz="976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0724040"/>
                  </a:ext>
                </a:extLst>
              </a:tr>
              <a:tr h="33068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Subword LID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src/laps/tokenizer.py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Subword tokenization and script identification.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76" dirty="0">
                          <a:effectLst/>
                        </a:rPr>
                        <a:t> Operational</a:t>
                      </a:r>
                      <a:endParaRPr lang="en-US" sz="976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4762705"/>
                  </a:ext>
                </a:extLst>
              </a:tr>
              <a:tr h="535462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Neural LID &amp; Homograph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src/laps/neural_lid.py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Character-level CNN + homograph disambiguator.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76" dirty="0">
                          <a:effectLst/>
                        </a:rPr>
                        <a:t> Operational (NEW)</a:t>
                      </a:r>
                      <a:endParaRPr lang="en-US" sz="976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51959218"/>
                  </a:ext>
                </a:extLst>
              </a:tr>
              <a:tr h="535462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Register Detector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src/laps/register_detector.py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Automated formality &amp; register threshold inference.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76" dirty="0">
                          <a:effectLst/>
                        </a:rPr>
                        <a:t> Operational (NEW)</a:t>
                      </a:r>
                      <a:endParaRPr lang="en-US" sz="976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489470"/>
                  </a:ext>
                </a:extLst>
              </a:tr>
              <a:tr h="535462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Feature Extractor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src/laps/feature_extractor.py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6-feature vector calculation via all-MiniLM-L6-v2.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76" dirty="0">
                          <a:effectLst/>
                        </a:rPr>
                        <a:t> Operational</a:t>
                      </a:r>
                      <a:endParaRPr lang="en-US" sz="976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4871580"/>
                  </a:ext>
                </a:extLst>
              </a:tr>
              <a:tr h="33068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Knowledge Graph API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src/laps/graph_engine.py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SQLite query API for 2,907 nodes &amp; 2,940 edges.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76" dirty="0">
                          <a:effectLst/>
                        </a:rPr>
                        <a:t> Operational</a:t>
                      </a:r>
                      <a:endParaRPr lang="en-US" sz="976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73074943"/>
                  </a:ext>
                </a:extLst>
              </a:tr>
              <a:tr h="535462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Scorer &amp; Threshold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src/laps/scorer.py, threshold_engine.py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Weighted scoring, simplex weights $w^*$, &amp; Soft Sigmoid.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76" dirty="0">
                          <a:effectLst/>
                        </a:rPr>
                        <a:t> Operational</a:t>
                      </a:r>
                      <a:endParaRPr lang="en-US" sz="976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1829910"/>
                  </a:ext>
                </a:extLst>
              </a:tr>
              <a:tr h="535462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XML Rewriter &amp; Explainer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src/llm/rewriter.py, explainer.py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XML constraint synthesis &amp; structured audit reporting.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76" dirty="0">
                          <a:effectLst/>
                        </a:rPr>
                        <a:t> Operational</a:t>
                      </a:r>
                      <a:endParaRPr lang="en-US" sz="976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8551314"/>
                  </a:ext>
                </a:extLst>
              </a:tr>
              <a:tr h="535462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Interactive Web UI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app.py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4-tab Streamlit web application at localhost:8501.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76" dirty="0">
                          <a:effectLst/>
                        </a:rPr>
                        <a:t> Operational</a:t>
                      </a:r>
                      <a:endParaRPr lang="en-US" sz="976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5569851"/>
                  </a:ext>
                </a:extLst>
              </a:tr>
              <a:tr h="330685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Automated Test Suite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tests/test_laps.py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976">
                          <a:effectLst/>
                        </a:rPr>
                        <a:t>Comprehensive unit and integration test suite.</a:t>
                      </a:r>
                      <a:endParaRPr lang="en-US" sz="976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976" dirty="0">
                          <a:effectLst/>
                        </a:rPr>
                        <a:t> 18/18 Passed</a:t>
                      </a:r>
                      <a:endParaRPr lang="en-US" sz="976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048614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D6513E8E-6031-7DBB-EAF8-3CC86B259DB8}"/>
              </a:ext>
            </a:extLst>
          </p:cNvPr>
          <p:cNvSpPr txBox="1"/>
          <p:nvPr/>
        </p:nvSpPr>
        <p:spPr>
          <a:xfrm>
            <a:off x="254441" y="596348"/>
            <a:ext cx="26798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Modules Implemented: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998703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556E8-0003-02C5-D37D-A5CC4CE44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376B32-FA12-4961-0DBF-EE57A7705B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09-09-2026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0EF323-27AB-5372-4287-A24CA5411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AAC16-1233-230F-5D3B-645E6B283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AFBEA8-CB99-D8B7-C78B-B5B92B9DE214}"/>
              </a:ext>
            </a:extLst>
          </p:cNvPr>
          <p:cNvSpPr txBox="1"/>
          <p:nvPr/>
        </p:nvSpPr>
        <p:spPr>
          <a:xfrm>
            <a:off x="151076" y="477079"/>
            <a:ext cx="286674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Experiments and Results:</a:t>
            </a:r>
            <a:endParaRPr lang="en-US" sz="2000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D711D11-EE58-761D-6F19-DD9429BDCA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9196660"/>
              </p:ext>
            </p:extLst>
          </p:nvPr>
        </p:nvGraphicFramePr>
        <p:xfrm>
          <a:off x="331304" y="1121134"/>
          <a:ext cx="11529392" cy="21309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7056">
                  <a:extLst>
                    <a:ext uri="{9D8B030D-6E8A-4147-A177-3AD203B41FA5}">
                      <a16:colId xmlns:a16="http://schemas.microsoft.com/office/drawing/2014/main" val="2464551139"/>
                    </a:ext>
                  </a:extLst>
                </a:gridCol>
                <a:gridCol w="1647056">
                  <a:extLst>
                    <a:ext uri="{9D8B030D-6E8A-4147-A177-3AD203B41FA5}">
                      <a16:colId xmlns:a16="http://schemas.microsoft.com/office/drawing/2014/main" val="1518836155"/>
                    </a:ext>
                  </a:extLst>
                </a:gridCol>
                <a:gridCol w="1647056">
                  <a:extLst>
                    <a:ext uri="{9D8B030D-6E8A-4147-A177-3AD203B41FA5}">
                      <a16:colId xmlns:a16="http://schemas.microsoft.com/office/drawing/2014/main" val="4109630489"/>
                    </a:ext>
                  </a:extLst>
                </a:gridCol>
                <a:gridCol w="1647056">
                  <a:extLst>
                    <a:ext uri="{9D8B030D-6E8A-4147-A177-3AD203B41FA5}">
                      <a16:colId xmlns:a16="http://schemas.microsoft.com/office/drawing/2014/main" val="3886754204"/>
                    </a:ext>
                  </a:extLst>
                </a:gridCol>
                <a:gridCol w="1647056">
                  <a:extLst>
                    <a:ext uri="{9D8B030D-6E8A-4147-A177-3AD203B41FA5}">
                      <a16:colId xmlns:a16="http://schemas.microsoft.com/office/drawing/2014/main" val="3016128966"/>
                    </a:ext>
                  </a:extLst>
                </a:gridCol>
                <a:gridCol w="1647056">
                  <a:extLst>
                    <a:ext uri="{9D8B030D-6E8A-4147-A177-3AD203B41FA5}">
                      <a16:colId xmlns:a16="http://schemas.microsoft.com/office/drawing/2014/main" val="636677745"/>
                    </a:ext>
                  </a:extLst>
                </a:gridCol>
                <a:gridCol w="1647056">
                  <a:extLst>
                    <a:ext uri="{9D8B030D-6E8A-4147-A177-3AD203B41FA5}">
                      <a16:colId xmlns:a16="http://schemas.microsoft.com/office/drawing/2014/main" val="1597018674"/>
                    </a:ext>
                  </a:extLst>
                </a:gridCol>
              </a:tblGrid>
              <a:tr h="309956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>
                          <a:effectLst/>
                        </a:rPr>
                        <a:t>System / Architecture</a:t>
                      </a:r>
                      <a:endParaRPr lang="en-US" sz="1000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dirty="0">
                          <a:effectLst/>
                        </a:rPr>
                        <a:t>OTER (poor)</a:t>
                      </a:r>
                      <a:endParaRPr lang="en-US" sz="1000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dirty="0">
                          <a:effectLst/>
                        </a:rPr>
                        <a:t>UTER (poor)</a:t>
                      </a:r>
                      <a:endParaRPr lang="en-US" sz="1000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dirty="0">
                          <a:effectLst/>
                        </a:rPr>
                        <a:t>BLEU (better)</a:t>
                      </a:r>
                      <a:endParaRPr lang="en-US" sz="1000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dirty="0" err="1">
                          <a:effectLst/>
                        </a:rPr>
                        <a:t>chrF</a:t>
                      </a:r>
                      <a:r>
                        <a:rPr lang="en-US" sz="1000" dirty="0">
                          <a:effectLst/>
                        </a:rPr>
                        <a:t>++ (better)</a:t>
                      </a:r>
                      <a:endParaRPr lang="en-US" sz="1000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dirty="0">
                          <a:effectLst/>
                        </a:rPr>
                        <a:t>Token F1 (better)</a:t>
                      </a:r>
                      <a:endParaRPr lang="en-US" sz="1000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>
                          <a:effectLst/>
                        </a:rPr>
                        <a:t>Statistical Significance</a:t>
                      </a:r>
                      <a:endParaRPr lang="en-US" sz="1000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2782532"/>
                  </a:ext>
                </a:extLst>
              </a:tr>
              <a:tr h="503679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>
                          <a:effectLst/>
                        </a:rPr>
                        <a:t>Unconstrained NMT Baseline</a:t>
                      </a:r>
                      <a:endParaRPr lang="en-US" sz="1000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>
                          <a:effectLst/>
                        </a:rPr>
                        <a:t>0.1193</a:t>
                      </a:r>
                      <a:endParaRPr lang="en-US" sz="1000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>
                          <a:effectLst/>
                        </a:rPr>
                        <a:t>0.8482</a:t>
                      </a:r>
                      <a:endParaRPr lang="en-US" sz="1000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>
                          <a:effectLst/>
                        </a:rPr>
                        <a:t>0.4177</a:t>
                      </a:r>
                      <a:endParaRPr lang="en-US" sz="1000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>
                          <a:effectLst/>
                        </a:rPr>
                        <a:t>0.4370</a:t>
                      </a:r>
                      <a:endParaRPr lang="en-US" sz="1000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>
                          <a:effectLst/>
                        </a:rPr>
                        <a:t>0.0000</a:t>
                      </a:r>
                      <a:endParaRPr lang="en-US" sz="1000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>
                          <a:effectLst/>
                        </a:rPr>
                        <a:t>$p = 0.0001$</a:t>
                      </a:r>
                      <a:endParaRPr lang="en-US" sz="1000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9493005"/>
                  </a:ext>
                </a:extLst>
              </a:tr>
              <a:tr h="309956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>
                          <a:effectLst/>
                        </a:rPr>
                        <a:t>Static Dictionary Filter</a:t>
                      </a:r>
                      <a:endParaRPr lang="en-US" sz="1000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>
                          <a:effectLst/>
                        </a:rPr>
                        <a:t>0.0852</a:t>
                      </a:r>
                      <a:endParaRPr lang="en-US" sz="1000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>
                          <a:effectLst/>
                        </a:rPr>
                        <a:t>0.8442</a:t>
                      </a:r>
                      <a:endParaRPr lang="en-US" sz="1000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>
                          <a:effectLst/>
                        </a:rPr>
                        <a:t>0.4332</a:t>
                      </a:r>
                      <a:endParaRPr lang="en-US" sz="1000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>
                          <a:effectLst/>
                        </a:rPr>
                        <a:t>0.4503</a:t>
                      </a:r>
                      <a:endParaRPr lang="en-US" sz="1000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>
                          <a:effectLst/>
                        </a:rPr>
                        <a:t>0.0477</a:t>
                      </a:r>
                      <a:endParaRPr lang="en-US" sz="1000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>
                          <a:effectLst/>
                        </a:rPr>
                        <a:t>$p = 0.0001$</a:t>
                      </a:r>
                      <a:endParaRPr lang="en-US" sz="1000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7268240"/>
                  </a:ext>
                </a:extLst>
              </a:tr>
              <a:tr h="503679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>
                          <a:effectLst/>
                        </a:rPr>
                        <a:t>Few-Shot In-Context Learning</a:t>
                      </a:r>
                      <a:endParaRPr lang="en-US" sz="1000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>
                          <a:effectLst/>
                        </a:rPr>
                        <a:t>0.0485</a:t>
                      </a:r>
                      <a:endParaRPr lang="en-US" sz="1000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>
                          <a:effectLst/>
                        </a:rPr>
                        <a:t>0.8442</a:t>
                      </a:r>
                      <a:endParaRPr lang="en-US" sz="1000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>
                          <a:effectLst/>
                        </a:rPr>
                        <a:t>0.4429</a:t>
                      </a:r>
                      <a:endParaRPr lang="en-US" sz="1000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>
                          <a:effectLst/>
                        </a:rPr>
                        <a:t>0.4610</a:t>
                      </a:r>
                      <a:endParaRPr lang="en-US" sz="1000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>
                          <a:effectLst/>
                        </a:rPr>
                        <a:t>0.0973</a:t>
                      </a:r>
                      <a:endParaRPr lang="en-US" sz="1000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>
                          <a:effectLst/>
                        </a:rPr>
                        <a:t>$p = 0.0001$</a:t>
                      </a:r>
                      <a:endParaRPr lang="en-US" sz="1000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3593771"/>
                  </a:ext>
                </a:extLst>
              </a:tr>
              <a:tr h="503679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sz="1000">
                          <a:effectLst/>
                        </a:rPr>
                        <a:t>LAPS Guardrail (Proposed)</a:t>
                      </a:r>
                      <a:endParaRPr lang="en-US" sz="1000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>
                          <a:effectLst/>
                        </a:rPr>
                        <a:t>0.0108</a:t>
                      </a:r>
                      <a:endParaRPr lang="en-US" sz="1000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>
                          <a:effectLst/>
                        </a:rPr>
                        <a:t>0.8442</a:t>
                      </a:r>
                      <a:endParaRPr lang="en-US" sz="1000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>
                          <a:effectLst/>
                        </a:rPr>
                        <a:t>0.4575</a:t>
                      </a:r>
                      <a:endParaRPr lang="en-US" sz="1000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>
                          <a:effectLst/>
                        </a:rPr>
                        <a:t>0.4732</a:t>
                      </a:r>
                      <a:endParaRPr lang="en-US" sz="1000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>
                          <a:effectLst/>
                        </a:rPr>
                        <a:t>0.9567</a:t>
                      </a:r>
                      <a:endParaRPr lang="en-US" sz="1000" b="0" i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indent="0" algn="ctr">
                        <a:buNone/>
                      </a:pPr>
                      <a:r>
                        <a:rPr lang="en-US" sz="1000" dirty="0">
                          <a:effectLst/>
                        </a:rPr>
                        <a:t>Baseline Reference</a:t>
                      </a:r>
                      <a:endParaRPr lang="en-US" sz="1000" b="0" i="0" dirty="0">
                        <a:solidFill>
                          <a:srgbClr val="DDDDDD"/>
                        </a:solidFill>
                        <a:effectLst/>
                        <a:latin typeface="Segoe WPC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518535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6DA91C88-6C5F-AD10-C30E-F21F30BD1051}"/>
              </a:ext>
            </a:extLst>
          </p:cNvPr>
          <p:cNvSpPr txBox="1"/>
          <p:nvPr/>
        </p:nvSpPr>
        <p:spPr>
          <a:xfrm>
            <a:off x="331304" y="3605918"/>
            <a:ext cx="1152939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/>
              <a:t>11× Over-Translation Suppression:</a:t>
            </a:r>
            <a:r>
              <a:rPr lang="en-US" dirty="0"/>
              <a:t> LAPS reduces Over-Translation Error Rate (OTER) from </a:t>
            </a:r>
            <a:r>
              <a:rPr lang="en-US" b="1" dirty="0"/>
              <a:t>11.93%</a:t>
            </a:r>
            <a:r>
              <a:rPr lang="en-US" dirty="0"/>
              <a:t> (raw NMT) down to </a:t>
            </a:r>
            <a:r>
              <a:rPr lang="en-US" b="1" dirty="0"/>
              <a:t>1.08%</a:t>
            </a:r>
            <a:r>
              <a:rPr lang="en-US" dirty="0"/>
              <a:t>, keeping natural loanwords intact.</a:t>
            </a:r>
          </a:p>
          <a:p>
            <a:pPr lvl="0"/>
            <a:r>
              <a:rPr lang="en-US" b="1" dirty="0"/>
              <a:t>Open-Vocabulary Generalization:</a:t>
            </a:r>
            <a:r>
              <a:rPr lang="en-US" dirty="0"/>
              <a:t> Static dictionary filters collapse on unseen words (</a:t>
            </a:r>
            <a:r>
              <a:rPr lang="en-US" b="1" dirty="0"/>
              <a:t>0.0477 Token F1</a:t>
            </a:r>
            <a:r>
              <a:rPr lang="en-US" dirty="0"/>
              <a:t>); LAPS achieves </a:t>
            </a:r>
            <a:r>
              <a:rPr lang="en-US" b="1" dirty="0"/>
              <a:t>0.9567 Token F1</a:t>
            </a:r>
            <a:r>
              <a:rPr lang="en-US" dirty="0"/>
              <a:t> using continuous semantic vector embeddings.</a:t>
            </a:r>
          </a:p>
          <a:p>
            <a:pPr lvl="0"/>
            <a:r>
              <a:rPr lang="en-US" b="1" dirty="0"/>
              <a:t>Statistical Rigor:</a:t>
            </a:r>
            <a:r>
              <a:rPr lang="en-US" dirty="0"/>
              <a:t> Paired permutation sign-flip tests across all 100 sentences confirm LAPS's superiority is statistically significant at $\</a:t>
            </a:r>
            <a:r>
              <a:rPr lang="en-US" dirty="0" err="1"/>
              <a:t>mathbf</a:t>
            </a:r>
            <a:r>
              <a:rPr lang="en-US" dirty="0"/>
              <a:t>{p &lt; 0.001}$.</a:t>
            </a:r>
          </a:p>
          <a:p>
            <a:pPr lvl="0"/>
            <a:r>
              <a:rPr lang="en-US" b="1" dirty="0"/>
              <a:t>Inter-Annotator Agreement:</a:t>
            </a:r>
            <a:r>
              <a:rPr lang="en-US" dirty="0"/>
              <a:t> Human evaluation across 90 candidate tokens yielded </a:t>
            </a:r>
            <a:r>
              <a:rPr lang="en-US" b="1" dirty="0"/>
              <a:t>Fleiss' Kappa $\kappa = 0.8739$</a:t>
            </a:r>
            <a:r>
              <a:rPr lang="en-US" dirty="0"/>
              <a:t> (</a:t>
            </a:r>
            <a:r>
              <a:rPr lang="en-US" i="1" dirty="0"/>
              <a:t>Observed Agreement = 94.44%</a:t>
            </a:r>
            <a:r>
              <a:rPr lang="en-US" dirty="0"/>
              <a:t>), confirming "Almost Perfect Agreement" above ACL standards.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1888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C49A39-F362-DB35-B5DF-7E322AB9C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1BAA61-633E-E24B-7DEE-4B2A2B1FA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C21BBC-35C1-4163-B59F-12E882240DC0}" type="datetime1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09-09-2026</a:t>
            </a:fld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3C553-2D0C-5A0A-39DC-21C43BD88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F7A7E9-45BE-62F4-D3A6-F19DC6ABE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39A33B2-1925-BD20-DD94-F94ED33CFE12}"/>
              </a:ext>
            </a:extLst>
          </p:cNvPr>
          <p:cNvSpPr txBox="1"/>
          <p:nvPr/>
        </p:nvSpPr>
        <p:spPr>
          <a:xfrm>
            <a:off x="122463" y="249550"/>
            <a:ext cx="29325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Conclusion &amp; Future Plan:</a:t>
            </a:r>
            <a:endParaRPr lang="en-US" sz="2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655495-D191-6AED-FA79-232C07FCD0DC}"/>
              </a:ext>
            </a:extLst>
          </p:cNvPr>
          <p:cNvSpPr txBox="1"/>
          <p:nvPr/>
        </p:nvSpPr>
        <p:spPr>
          <a:xfrm>
            <a:off x="134118" y="906601"/>
            <a:ext cx="11923763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/>
              <a:t>Review 2 Milestones Achieved (Implementation 85%+ Complete):</a:t>
            </a:r>
          </a:p>
          <a:p>
            <a:pPr marL="285750" lvl="0" indent="-285750">
              <a:buFont typeface="Wingdings" panose="05000000000000000000" pitchFamily="2" charset="2"/>
              <a:buChar char="§"/>
            </a:pP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b="1" dirty="0"/>
              <a:t>Core Problem Solved:</a:t>
            </a:r>
            <a:r>
              <a:rPr lang="en-US" dirty="0"/>
              <a:t> Demonstrated that an explainable, pre-generation guardrail prevents lexical over-translation in Hindi-English code-mixed text without retraining multi-billion parameter foundation models.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b="1" dirty="0"/>
              <a:t>Corpus &amp; Graph Grounding:</a:t>
            </a:r>
            <a:r>
              <a:rPr lang="en-US" dirty="0"/>
              <a:t> Built upon </a:t>
            </a:r>
            <a:r>
              <a:rPr lang="en-US" b="1" dirty="0"/>
              <a:t>16,024 authentic sentences</a:t>
            </a:r>
            <a:r>
              <a:rPr lang="en-US" dirty="0"/>
              <a:t> (</a:t>
            </a:r>
            <a:r>
              <a:rPr lang="en-US" dirty="0" err="1"/>
              <a:t>LinCE</a:t>
            </a:r>
            <a:r>
              <a:rPr lang="en-US" dirty="0"/>
              <a:t> + PHINC) indexing </a:t>
            </a:r>
            <a:r>
              <a:rPr lang="en-US" b="1" dirty="0"/>
              <a:t>9,879 loanwords</a:t>
            </a:r>
            <a:r>
              <a:rPr lang="en-US" dirty="0"/>
              <a:t> and supported by a </a:t>
            </a:r>
            <a:r>
              <a:rPr lang="en-US" b="1" dirty="0"/>
              <a:t>2,907-node SQLite Knowledge Graph</a:t>
            </a:r>
            <a:r>
              <a:rPr lang="en-US" dirty="0"/>
              <a:t>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b="1" dirty="0"/>
              <a:t>Algorithmic Verification:</a:t>
            </a:r>
            <a:r>
              <a:rPr lang="en-US" dirty="0"/>
              <a:t> Contextual homograph disambiguation and automated register prediction implemented and fully verified with </a:t>
            </a:r>
            <a:r>
              <a:rPr lang="en-US" b="1" dirty="0"/>
              <a:t>18/18 passing tests</a:t>
            </a:r>
            <a:r>
              <a:rPr lang="en-US" dirty="0"/>
              <a:t>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b="1" dirty="0"/>
              <a:t>Empirical Validation:</a:t>
            </a:r>
            <a:r>
              <a:rPr lang="en-US" dirty="0"/>
              <a:t> Slashed Over-Translation Error Rate from </a:t>
            </a:r>
            <a:r>
              <a:rPr lang="en-US" b="1" dirty="0"/>
              <a:t>11.93%</a:t>
            </a:r>
            <a:r>
              <a:rPr lang="en-US" dirty="0"/>
              <a:t> to </a:t>
            </a:r>
            <a:r>
              <a:rPr lang="en-US" b="1" dirty="0"/>
              <a:t>1.08%</a:t>
            </a:r>
            <a:r>
              <a:rPr lang="en-US" dirty="0"/>
              <a:t> ($p &lt; 0.001$, Fleiss' Kappa = </a:t>
            </a:r>
            <a:r>
              <a:rPr lang="en-US" b="1" dirty="0"/>
              <a:t>0.8739</a:t>
            </a:r>
            <a:r>
              <a:rPr lang="en-US" dirty="0"/>
              <a:t>).</a:t>
            </a:r>
          </a:p>
          <a:p>
            <a:pPr lvl="1"/>
            <a:endParaRPr lang="en-US" dirty="0"/>
          </a:p>
          <a:p>
            <a:pPr lvl="0"/>
            <a:r>
              <a:rPr lang="en-US" b="1" dirty="0"/>
              <a:t>Realistic Plan for Final Review (October 2026):</a:t>
            </a:r>
            <a:endParaRPr lang="en-US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b="1" dirty="0"/>
              <a:t>Expanded Benchmark Testing:</a:t>
            </a:r>
            <a:r>
              <a:rPr lang="en-US" dirty="0"/>
              <a:t> Enlarge the gold evaluation test corpus with additional real-world conversational sentences across diverse workplace chat scenarios.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b="1" dirty="0"/>
              <a:t>Dashboard UI Polish &amp; Export Reports:</a:t>
            </a:r>
            <a:r>
              <a:rPr lang="en-US" dirty="0"/>
              <a:t> Add one-click PDF/JSON summary reporting and detailed latency profiling to the </a:t>
            </a:r>
            <a:r>
              <a:rPr lang="en-US" dirty="0" err="1"/>
              <a:t>Streamlit</a:t>
            </a:r>
            <a:r>
              <a:rPr lang="en-US" dirty="0"/>
              <a:t> web dashboard.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b="1" dirty="0"/>
              <a:t>Offline Local Model Testing:</a:t>
            </a:r>
            <a:r>
              <a:rPr lang="en-US" dirty="0"/>
              <a:t> Validate constrained decoding against fully offline local </a:t>
            </a:r>
            <a:r>
              <a:rPr lang="en-US" dirty="0" err="1"/>
              <a:t>HuggingFace</a:t>
            </a:r>
            <a:r>
              <a:rPr lang="en-US" dirty="0"/>
              <a:t> sequence-to-sequence models without requiring external API access.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b="1" dirty="0"/>
              <a:t>Research Paper Submission:</a:t>
            </a:r>
            <a:r>
              <a:rPr lang="en-US" dirty="0"/>
              <a:t> Finalize and submit the camera-ready research manuscript to a Scopus/IEEE-indexed venue (</a:t>
            </a:r>
            <a:r>
              <a:rPr lang="en-US" b="1" dirty="0"/>
              <a:t>ICON 2026</a:t>
            </a:r>
            <a:r>
              <a:rPr lang="en-US" dirty="0"/>
              <a:t> / </a:t>
            </a:r>
            <a:r>
              <a:rPr lang="en-US" b="1" dirty="0"/>
              <a:t>IEEE Access</a:t>
            </a:r>
            <a:r>
              <a:rPr lang="en-US" dirty="0"/>
              <a:t>).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4987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0E1A0-FA4A-8258-6E10-9F00EDC0B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32D3DB-7149-E1E5-D5F9-4FC93A788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C7B6C-E68D-4047-8A1E-3C7BD2842AF7}" type="datetime1">
              <a:rPr lang="en-IN" smtClean="0"/>
              <a:t>09-09-2026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CABB1-7C63-52E3-2815-3651AE7E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SCOPE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31EAEC-BCE3-2979-69C6-273309B9F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01FD4-9D8D-4491-815B-63C7BF4F0034}" type="slidenum">
              <a:rPr lang="en-IN" smtClean="0"/>
              <a:t>14</a:t>
            </a:fld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F38FFE-FA28-877C-D3B0-DA8C87A789C3}"/>
              </a:ext>
            </a:extLst>
          </p:cNvPr>
          <p:cNvSpPr txBox="1"/>
          <p:nvPr/>
        </p:nvSpPr>
        <p:spPr>
          <a:xfrm>
            <a:off x="409622" y="378777"/>
            <a:ext cx="1295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References: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1F5B7FA-8593-CB14-E9C0-23FEBC28D577}"/>
              </a:ext>
            </a:extLst>
          </p:cNvPr>
          <p:cNvSpPr txBox="1"/>
          <p:nvPr/>
        </p:nvSpPr>
        <p:spPr>
          <a:xfrm>
            <a:off x="409622" y="874573"/>
            <a:ext cx="1137275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[1] G. Aguilar, S. Kar, and T. Solorio</a:t>
            </a:r>
            <a:r>
              <a:rPr lang="en-US" dirty="0"/>
              <a:t>, "</a:t>
            </a:r>
            <a:r>
              <a:rPr lang="en-US" dirty="0" err="1"/>
              <a:t>LinCE</a:t>
            </a:r>
            <a:r>
              <a:rPr lang="en-US" dirty="0"/>
              <a:t>: A centralized benchmark for linguistic code-switching evaluation," in </a:t>
            </a:r>
            <a:r>
              <a:rPr lang="en-US" i="1" dirty="0"/>
              <a:t>Proc. 12th Lang. </a:t>
            </a:r>
            <a:r>
              <a:rPr lang="en-US" i="1" dirty="0" err="1"/>
              <a:t>Resour</a:t>
            </a:r>
            <a:r>
              <a:rPr lang="en-US" i="1" dirty="0"/>
              <a:t>. Eval. Conf. (LREC)</a:t>
            </a:r>
            <a:r>
              <a:rPr lang="en-US" dirty="0"/>
              <a:t>, Marseille, France, 2020, pp. 1803–1813.</a:t>
            </a:r>
          </a:p>
          <a:p>
            <a:r>
              <a:rPr lang="en-US" b="1" dirty="0"/>
              <a:t>[2] S. Khanuja, D. </a:t>
            </a:r>
            <a:r>
              <a:rPr lang="en-US" b="1" dirty="0" err="1"/>
              <a:t>Dandapat</a:t>
            </a:r>
            <a:r>
              <a:rPr lang="en-US" b="1" dirty="0"/>
              <a:t>, A. Srinivasan, S. Sitaram, and M. Choudhury</a:t>
            </a:r>
            <a:r>
              <a:rPr lang="en-US" dirty="0"/>
              <a:t>, "</a:t>
            </a:r>
            <a:r>
              <a:rPr lang="en-US" dirty="0" err="1"/>
              <a:t>GLUECoS</a:t>
            </a:r>
            <a:r>
              <a:rPr lang="en-US" dirty="0"/>
              <a:t>: An evaluation benchmark for code-switched NLP," in </a:t>
            </a:r>
            <a:r>
              <a:rPr lang="en-US" i="1" dirty="0"/>
              <a:t>Proc. 58th Annu. Meeting Assoc. </a:t>
            </a:r>
            <a:r>
              <a:rPr lang="en-US" i="1" dirty="0" err="1"/>
              <a:t>Comput</a:t>
            </a:r>
            <a:r>
              <a:rPr lang="en-US" i="1" dirty="0"/>
              <a:t>. Linguistics (ACL)</a:t>
            </a:r>
            <a:r>
              <a:rPr lang="en-US" dirty="0"/>
              <a:t>, Online, 2020, pp. 3575–3585.</a:t>
            </a:r>
          </a:p>
          <a:p>
            <a:r>
              <a:rPr lang="en-US" b="1" dirty="0"/>
              <a:t>[3] A. Pratapa, G. Bhat, M. Choudhury, S. Sitaram, S. </a:t>
            </a:r>
            <a:r>
              <a:rPr lang="en-US" b="1" dirty="0" err="1"/>
              <a:t>Dandapat</a:t>
            </a:r>
            <a:r>
              <a:rPr lang="en-US" b="1" dirty="0"/>
              <a:t>, and K. Bali</a:t>
            </a:r>
            <a:r>
              <a:rPr lang="en-US" dirty="0"/>
              <a:t>, "Language modeling for code-mixing: The role of linguistic theory," in </a:t>
            </a:r>
            <a:r>
              <a:rPr lang="en-US" i="1" dirty="0"/>
              <a:t>Proc. 16th Annu. Conf. N. Amer. Chapter Assoc. </a:t>
            </a:r>
            <a:r>
              <a:rPr lang="en-US" i="1" dirty="0" err="1"/>
              <a:t>Comput</a:t>
            </a:r>
            <a:r>
              <a:rPr lang="en-US" i="1" dirty="0"/>
              <a:t>. Linguistics: Hum. Lang. Technol. (NAACL-HLT)</a:t>
            </a:r>
            <a:r>
              <a:rPr lang="en-US" dirty="0"/>
              <a:t>, New Orleans, LA, USA, 2018, pp. 1543–1553.</a:t>
            </a:r>
          </a:p>
          <a:p>
            <a:r>
              <a:rPr lang="en-US" b="1" dirty="0"/>
              <a:t>[4] M. T. Ribeiro, S. Singh, and C. </a:t>
            </a:r>
            <a:r>
              <a:rPr lang="en-US" b="1" dirty="0" err="1"/>
              <a:t>Guestrin</a:t>
            </a:r>
            <a:r>
              <a:rPr lang="en-US" dirty="0"/>
              <a:t>, '"Why should I trust you?": Explaining the predictions of any classifier,' in </a:t>
            </a:r>
            <a:r>
              <a:rPr lang="en-US" i="1" dirty="0"/>
              <a:t>Proc. 22nd ACM SIGKDD Int. Conf. </a:t>
            </a:r>
            <a:r>
              <a:rPr lang="en-US" i="1" dirty="0" err="1"/>
              <a:t>Knowl</a:t>
            </a:r>
            <a:r>
              <a:rPr lang="en-US" i="1" dirty="0"/>
              <a:t>. Discovery Data Mining (KDD)</a:t>
            </a:r>
            <a:r>
              <a:rPr lang="en-US" dirty="0"/>
              <a:t>, San Francisco, CA, USA, 2016, pp. 1135–1144.</a:t>
            </a:r>
          </a:p>
          <a:p>
            <a:r>
              <a:rPr lang="en-US" b="1" dirty="0"/>
              <a:t>[5] P. Srivastava, H. Tanwar, and M. S. Akhtar</a:t>
            </a:r>
            <a:r>
              <a:rPr lang="en-US" dirty="0"/>
              <a:t>, "Evaluating large language models on Hinglish code-mixed text normalization," </a:t>
            </a:r>
            <a:r>
              <a:rPr lang="en-US" i="1" dirty="0"/>
              <a:t>IEEE Access</a:t>
            </a:r>
            <a:r>
              <a:rPr lang="en-US" dirty="0"/>
              <a:t>, vol. 12, pp. 41200–41215, 2024, </a:t>
            </a:r>
            <a:r>
              <a:rPr lang="en-US" dirty="0" err="1"/>
              <a:t>doi</a:t>
            </a:r>
            <a:r>
              <a:rPr lang="en-US" dirty="0"/>
              <a:t>: 10.1109/ACCESS.2024.3375812.</a:t>
            </a:r>
          </a:p>
          <a:p>
            <a:r>
              <a:rPr lang="en-US" b="1" dirty="0"/>
              <a:t>[6] C. Hokamp and Q. Liu</a:t>
            </a:r>
            <a:r>
              <a:rPr lang="en-US" dirty="0"/>
              <a:t>, "Lexically constrained decoding for sequence generation using grid beam search," in </a:t>
            </a:r>
            <a:r>
              <a:rPr lang="en-US" i="1" dirty="0"/>
              <a:t>Proc. 55th Annu. Meeting Assoc. </a:t>
            </a:r>
            <a:r>
              <a:rPr lang="en-US" i="1" dirty="0" err="1"/>
              <a:t>Comput</a:t>
            </a:r>
            <a:r>
              <a:rPr lang="en-US" i="1" dirty="0"/>
              <a:t>. Linguistics (ACL)</a:t>
            </a:r>
            <a:r>
              <a:rPr lang="en-US" dirty="0"/>
              <a:t>, Vancouver, Canada, 2017, pp. 1535–1546.</a:t>
            </a:r>
          </a:p>
          <a:p>
            <a:r>
              <a:rPr lang="en-US" b="1" dirty="0"/>
              <a:t>[7] M. Post and D. Vilar</a:t>
            </a:r>
            <a:r>
              <a:rPr lang="en-US" dirty="0"/>
              <a:t>, "Fast lexically constrained decoding with dynamic beam allocation for neural machine translation," in </a:t>
            </a:r>
            <a:r>
              <a:rPr lang="en-US" i="1" dirty="0"/>
              <a:t>Proc. 16th Annu. Conf. N. Amer. Chapter Assoc. </a:t>
            </a:r>
            <a:r>
              <a:rPr lang="en-US" i="1" dirty="0" err="1"/>
              <a:t>Comput</a:t>
            </a:r>
            <a:r>
              <a:rPr lang="en-US" i="1" dirty="0"/>
              <a:t>. Linguistics: Hum. Lang. Technol. (NAACL-HLT)</a:t>
            </a:r>
            <a:r>
              <a:rPr lang="en-US" dirty="0"/>
              <a:t>, New Orleans, LA, USA, 2018, pp. 1314–1324.</a:t>
            </a:r>
          </a:p>
          <a:p>
            <a:r>
              <a:rPr lang="en-US" b="1" dirty="0"/>
              <a:t>[8] M. Mave, S. Maharjan, and T. Solorio</a:t>
            </a:r>
            <a:r>
              <a:rPr lang="en-US" dirty="0"/>
              <a:t>, "Language identification and analysis of code-switched social media text," in </a:t>
            </a:r>
            <a:r>
              <a:rPr lang="en-US" i="1" dirty="0"/>
              <a:t>Proc. 16th Annu. Conf. N. Amer. Chapter Assoc. </a:t>
            </a:r>
            <a:r>
              <a:rPr lang="en-US" i="1" dirty="0" err="1"/>
              <a:t>Comput</a:t>
            </a:r>
            <a:r>
              <a:rPr lang="en-US" i="1" dirty="0"/>
              <a:t>. Linguistics: Hum. Lang. Technol. (NAACL-HLT)</a:t>
            </a:r>
            <a:r>
              <a:rPr lang="en-US" dirty="0"/>
              <a:t>, New Orleans, LA, USA, 2018, pp. 440–445.</a:t>
            </a:r>
          </a:p>
        </p:txBody>
      </p:sp>
    </p:spTree>
    <p:extLst>
      <p:ext uri="{BB962C8B-B14F-4D97-AF65-F5344CB8AC3E}">
        <p14:creationId xmlns:p14="http://schemas.microsoft.com/office/powerpoint/2010/main" val="3510526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</TotalTime>
  <Words>3049</Words>
  <Application>Microsoft Office PowerPoint</Application>
  <PresentationFormat>Widescreen</PresentationFormat>
  <Paragraphs>270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Segoe WPC</vt:lpstr>
      <vt:lpstr>Times New Roman</vt:lpstr>
      <vt:lpstr>Wingdings</vt:lpstr>
      <vt:lpstr>Office Theme</vt:lpstr>
      <vt:lpstr>PowerPoint Presentation</vt:lpstr>
      <vt:lpstr>Approval Mail From Guide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Parthasarathy G</dc:creator>
  <cp:lastModifiedBy>ARYAN CHOPRA</cp:lastModifiedBy>
  <cp:revision>14</cp:revision>
  <dcterms:created xsi:type="dcterms:W3CDTF">2026-07-14T06:00:41Z</dcterms:created>
  <dcterms:modified xsi:type="dcterms:W3CDTF">2026-09-08T21:09:07Z</dcterms:modified>
</cp:coreProperties>
</file>